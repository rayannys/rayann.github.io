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2"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171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Hello everyone. Today, I am going to talk about self-driving cars, and especially the latest news of 2026. A lot happened this year, even last week.
FR : Bonjour à tous. Aujourd'hui je vais parler des voitures autonomes, et surtout des dernières actus de 2026. Il s'est passé beaucoup de choses cette année, même la semaine dernière.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There are six levels of autonomy, from zero to five. Level zero: the driver does everything. Level one: the car helps with one thing, like the speed. Level two: the car drives, but you must watch the road. This is Tesla FSD. Level three: you can stop watching, but only in some situations, like on the highway. Level four: no driver at all, but only in some cities. This is what Waymo and Baidu do. Level five: no driver, everywhere. It does not exist yet.
FR : Il y a six niveaux d'autonomie, de zéro à cinq. Niveau zéro : le conducteur fait tout. Niveau un : la voiture aide pour une seule chose, comme la vitesse. Niveau deux : la voiture conduit, mais tu dois regarder la route. C'est Tesla FSD. Niveau trois : tu peux arrêter de regarder, mais seulement dans certains cas, comme sur l'autoroute. Niveau quatre : plus de conducteur du tout, mais seulement dans certaines villes. C'est ce que font Waymo et Baidu. Niveau cinq : pas de conducteur, partout. Ça n'existe pas encore.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Here are the big news of 2026. In April, the first robotaxi service in Europe opened in Zagreb, in Croatia. Also in April, the Netherlands became the first European country to approve Tesla FSD. In July, Waymo started rides with no driver in Las Vegas. In September, Tesla launched the Cybercab in Austin. And last week, on October 6th, Waymo started driving with no driver in Detroit.
FR : Voici les grandes actus de 2026. En avril, le premier service de robotaxi d'Europe a ouvert à Zagreb, en Croatie. En avril aussi, les Pays-Bas sont devenus le premier pays européen à autoriser Tesla FSD. En juillet, Waymo a lancé des trajets sans conducteur à Las Vegas. En septembre, Tesla a lancé la Cybercab à Austin. Et la semaine dernière, le 6 octobre, Waymo a commencé à rouler sans conducteur à Détroit.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leader is Waymo, the robotaxi company of Google. Waymo gives about 500,000 rides every week, with nobody at the wheel, in more than 10 American cities. Last week, on October 6th, Waymo started driving with no driver in Detroit. In October, Waymo also borrowed 5 billion dollars to grow faster. The next cities are London, then Tokyo.
FR : Le leader c'est Waymo, l'entreprise de robotaxis de Google. Waymo fait environ 500 000 trajets par semaine, sans personne au volant, dans plus de 10 villes américaines. La semaine dernière, le 6 octobre, Waymo a commencé à rouler sans conducteur à Détroit. En octobre, Waymo a aussi emprunté 5 milliards de dollars pour grandir plus vite. Les prochaines villes sont Londres, puis Tokyo.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Tesla is the second big player. On September 3rd, Tesla launched the Cybercab in Austin. It is a car with no steering wheel and no pedals. Tesla already has robotaxis in Texas since 2025. And in April, the Netherlands approved Tesla FSD: it is the first country in Europe. But it is level 2, so the driver must still watch the road. One difference with Waymo: Tesla uses only cameras.
FR : Tesla est le deuxième grand acteur. Le 3 septembre, Tesla a lancé la Cybercab à Austin. C'est une voiture sans volant et sans pédales. Tesla a déjà des robotaxis au Texas depuis 2025. Et en avril, les Pays-Bas ont autorisé Tesla FSD : c'est le premier pays d'Europe. Mais c'est du niveau 2, donc le conducteur doit quand même regarder la route. Une différence avec Waymo : Tesla utilise seulement des caméras.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China is also very fast. The company Baidu has robotaxis in about 20 Chinese cities. In Dubai and Abu Dhabi, there are also taxis with no driver. On this photo, you can see a robotaxi in Abu Dhabi.
FR : La Chine va aussi très vite. L'entreprise Baidu a des robotaxis dans environ 20 villes chinoises. À Dubaï et Abu Dhabi, il y a aussi des taxis sans chauffeur. Sur cette photo, on voit un robotaxi à Abu Dhabi.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And in Europe? Europe is late, but it is starting. In April, the first robotaxi service opened in Zagreb, in Croatia. The Netherlands is the first country to approve Tesla FSD. In London, there are robotaxi tests, but with a safety driver inside. And in France, for now, there are only tests. That is why we never see these cars here.
FR : Et en Europe ? L'Europe est en retard, mais ça commence. En avril, le premier service de robotaxi a ouvert à Zagreb, en Croatie. Les Pays-Bas sont le premier pays à autoriser Tesla FSD. À Londres, il y a des tests de robotaxis, mais avec un conducteur de sécurité. Et en France, pour l'instant, il n'y a que des tests. C'est pour ça qu'on ne voit jamais ces voitures ici.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So, is it good or bad? The advantages: there can be fewer accidents, because the car is never tired. It works day and night. And in the future, taxis can be cheaper. But there are problems: if there is an accident, who is responsible? Snow and rain are still difficult for the cameras. And taxi drivers can lose their job.
FR : Alors, c'est bien ou pas ? Les avantages : il peut y avoir moins d'accidents, car la voiture n'est jamais fatiguée. Elle marche jour et nuit. Et à l'avenir, les taxis peuvent coûter moins cher. Mais il y a des problèmes : en cas d'accident, qui est responsable ? La neige et la pluie sont encore difficiles pour les caméras. Et les chauffeurs de taxi peuvent perdre leur travail.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 conclude, robotaxis already work in the United States and in China, and they move very fast: new cities every month. They are not in France yet, but I think they will come in a few years. Thank you for your attention. Do you have any questions?
FR : Pour conclure, les robotaxis marchent déjà aux États-Unis et en Chine, et ça avance très vite : de nouvelles villes chaque mois. Ils ne sont pas encore en France, mais je pense qu'ils arriveront dans quelques années. Merci de votre attention. Avez-vous des questions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TO_FULL">
    <p:bg>
      <p:bgPr>
        <a:solidFill>
          <a:srgbClr val="11111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566160"/>
            <a:ext cx="8229600" cy="18288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640080" y="5532120"/>
            <a:ext cx="8229600" cy="548640"/>
          </a:xfrm>
          <a:prstGeom prst="rect">
            <a:avLst/>
          </a:prstGeom>
          <a:noFill/>
          <a:ln/>
        </p:spPr>
        <p:txBody>
          <a:bodyPr wrap="square" rtlCol="0"/>
          <a:lstStyle>
            <a:lvl1pPr marL="0" indent="0" algn="l">
              <a:buNone/>
              <a:defRPr lang="en-US" sz="2200" b="1" dirty="0">
                <a:solidFill>
                  <a:schemeClr val="accent1"/>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PLI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48640"/>
            <a:ext cx="5212080" cy="1280160"/>
          </a:xfrm>
          <a:prstGeom prst="rect">
            <a:avLst/>
          </a:prstGeom>
          <a:noFill/>
          <a:ln/>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ybercab photo" descr="preencoded.png"/>
          <p:cNvPicPr>
            <a:picLocks noChangeAspect="1"/>
          </p:cNvPicPr>
          <p:nvPr/>
        </p:nvPicPr>
        <p:blipFill>
          <a:blip r:embed="rId3"/>
          <a:stretch>
            <a:fillRect/>
          </a:stretch>
        </p:blipFill>
        <p:spPr>
          <a:xfrm>
            <a:off x="0" y="0"/>
            <a:ext cx="12191695" cy="6858000"/>
          </a:xfrm>
          <a:prstGeom prst="rect">
            <a:avLst/>
          </a:prstGeom>
        </p:spPr>
      </p:pic>
      <p:sp>
        <p:nvSpPr>
          <p:cNvPr id="3" name="Dark overlay"/>
          <p:cNvSpPr/>
          <p:nvPr/>
        </p:nvSpPr>
        <p:spPr>
          <a:xfrm>
            <a:off x="0" y="0"/>
            <a:ext cx="12191695" cy="6858000"/>
          </a:xfrm>
          <a:prstGeom prst="rect">
            <a:avLst/>
          </a:prstGeom>
          <a:solidFill>
            <a:srgbClr val="000000">
              <a:alpha val="55000"/>
            </a:srgbClr>
          </a:solidFill>
          <a:ln/>
        </p:spPr>
        <p:txBody>
          <a:bodyPr/>
          <a:lstStyle/>
          <a:p>
            <a:endParaRPr lang="fr-FR"/>
          </a:p>
        </p:txBody>
      </p:sp>
      <p:sp>
        <p:nvSpPr>
          <p:cNvPr id="4" name="Text 0"/>
          <p:cNvSpPr>
            <a:spLocks noGrp="1"/>
          </p:cNvSpPr>
          <p:nvPr>
            <p:ph type="title" idx="100" hasCustomPrompt="1"/>
          </p:nvPr>
        </p:nvSpPr>
        <p:spPr>
          <a:xfrm>
            <a:off x="640080" y="3566160"/>
            <a:ext cx="8229600" cy="1828800"/>
          </a:xfrm>
          <a:prstGeom prst="rect">
            <a:avLst/>
          </a:prstGeom>
          <a:noFill/>
          <a:ln/>
        </p:spPr>
        <p:txBody>
          <a:bodyPr wrap="square" lIns="0" tIns="0" rIns="0" bIns="0" rtlCol="0" anchor="b"/>
          <a:lstStyle/>
          <a:p>
            <a:pPr marL="0" indent="0" algn="l">
              <a:buNone/>
            </a:pPr>
            <a:r>
              <a:rPr lang="en-US" sz="4800" b="1" dirty="0">
                <a:solidFill>
                  <a:schemeClr val="bg1"/>
                </a:solidFill>
              </a:rPr>
              <a:t>Self-Driving Cars:</a:t>
            </a:r>
            <a:endParaRPr lang="en-US" sz="4800" dirty="0"/>
          </a:p>
          <a:p>
            <a:pPr marL="0" indent="0" algn="l">
              <a:buNone/>
            </a:pPr>
            <a:r>
              <a:rPr lang="en-US" sz="4800" b="1" dirty="0">
                <a:solidFill>
                  <a:schemeClr val="bg1"/>
                </a:solidFill>
              </a:rPr>
              <a:t>The Latest News</a:t>
            </a:r>
            <a:endParaRPr lang="en-US" sz="4800" dirty="0"/>
          </a:p>
        </p:txBody>
      </p:sp>
      <p:sp>
        <p:nvSpPr>
          <p:cNvPr id="5" name="Text 0"/>
          <p:cNvSpPr>
            <a:spLocks noGrp="1"/>
          </p:cNvSpPr>
          <p:nvPr>
            <p:ph type="body" idx="101" hasCustomPrompt="1"/>
          </p:nvPr>
        </p:nvSpPr>
        <p:spPr>
          <a:xfrm>
            <a:off x="640080" y="5532120"/>
            <a:ext cx="8229600" cy="548640"/>
          </a:xfrm>
          <a:prstGeom prst="rect">
            <a:avLst/>
          </a:prstGeom>
          <a:noFill/>
          <a:ln/>
        </p:spPr>
        <p:txBody>
          <a:bodyPr wrap="square" lIns="0" tIns="0" rIns="0" bIns="0" rtlCol="0"/>
          <a:lstStyle/>
          <a:p>
            <a:pPr marL="0" indent="0" algn="l">
              <a:buNone/>
            </a:pPr>
            <a:r>
              <a:rPr lang="en-US" sz="2200" b="1" dirty="0">
                <a:solidFill>
                  <a:srgbClr val="00B050"/>
                </a:solidFill>
              </a:rPr>
              <a:t>Rayann Ilkay</a:t>
            </a:r>
            <a:endParaRPr lang="en-US" sz="2200"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3" name="Level 4"/>
          <p:cNvSpPr/>
          <p:nvPr/>
        </p:nvSpPr>
        <p:spPr>
          <a:xfrm>
            <a:off x="6156962" y="1531620"/>
            <a:ext cx="1737360" cy="4526280"/>
          </a:xfrm>
          <a:prstGeom prst="roundRect">
            <a:avLst>
              <a:gd name="adj" fmla="val 6316"/>
            </a:avLst>
          </a:prstGeom>
          <a:solidFill>
            <a:srgbClr val="00B050"/>
          </a:solidFill>
          <a:ln/>
        </p:spPr>
        <p:txBody>
          <a:bodyPr/>
          <a:lstStyle/>
          <a:p>
            <a:endParaRPr lang="fr-FR" dirty="0">
              <a:highlight>
                <a:srgbClr val="008000"/>
              </a:highlight>
            </a:endParaRPr>
          </a:p>
        </p:txBody>
      </p:sp>
      <p:sp>
        <p:nvSpPr>
          <p:cNvPr id="2" name="Text 0"/>
          <p:cNvSpPr>
            <a:spLocks noGrp="1"/>
          </p:cNvSpPr>
          <p:nvPr>
            <p:ph type="title" idx="100" hasCustomPrompt="1"/>
          </p:nvPr>
        </p:nvSpPr>
        <p:spPr>
          <a:xfrm>
            <a:off x="640080" y="457200"/>
            <a:ext cx="10881360" cy="822960"/>
          </a:xfrm>
          <a:prstGeom prst="rect">
            <a:avLst/>
          </a:prstGeom>
          <a:noFill/>
          <a:ln/>
        </p:spPr>
        <p:txBody>
          <a:bodyPr wrap="square" lIns="0" tIns="0" rIns="0" bIns="0" rtlCol="0" anchor="t"/>
          <a:lstStyle/>
          <a:p>
            <a:pPr marL="0" indent="0" algn="l">
              <a:buNone/>
            </a:pPr>
            <a:r>
              <a:rPr lang="en-US" sz="3800" b="1" dirty="0">
                <a:solidFill>
                  <a:schemeClr val="tx1"/>
                </a:solidFill>
              </a:rPr>
              <a:t>The 6 Levels of Autonomy</a:t>
            </a:r>
            <a:endParaRPr lang="en-US" sz="3800" dirty="0"/>
          </a:p>
        </p:txBody>
      </p:sp>
      <p:sp>
        <p:nvSpPr>
          <p:cNvPr id="3" name="Level 0"/>
          <p:cNvSpPr/>
          <p:nvPr/>
        </p:nvSpPr>
        <p:spPr>
          <a:xfrm>
            <a:off x="640080" y="1508760"/>
            <a:ext cx="1737360" cy="4526280"/>
          </a:xfrm>
          <a:prstGeom prst="roundRect">
            <a:avLst>
              <a:gd name="adj" fmla="val 6316"/>
            </a:avLst>
          </a:prstGeom>
          <a:solidFill>
            <a:schemeClr val="bg2"/>
          </a:solidFill>
          <a:ln/>
        </p:spPr>
        <p:txBody>
          <a:bodyPr/>
          <a:lstStyle/>
          <a:p>
            <a:endParaRPr lang="fr-FR"/>
          </a:p>
        </p:txBody>
      </p:sp>
      <p:sp>
        <p:nvSpPr>
          <p:cNvPr id="4" name="Text 2"/>
          <p:cNvSpPr txBox="1"/>
          <p:nvPr/>
        </p:nvSpPr>
        <p:spPr>
          <a:xfrm>
            <a:off x="822960" y="1691640"/>
            <a:ext cx="1371600" cy="914400"/>
          </a:xfrm>
          <a:prstGeom prst="rect">
            <a:avLst/>
          </a:prstGeom>
          <a:noFill/>
          <a:ln/>
        </p:spPr>
        <p:txBody>
          <a:bodyPr wrap="square" lIns="0" tIns="0" rIns="0" bIns="0" rtlCol="0" anchor="ctr"/>
          <a:lstStyle/>
          <a:p>
            <a:pPr marL="0" indent="0">
              <a:buNone/>
            </a:pPr>
            <a:r>
              <a:rPr lang="en-US" sz="6000" b="1" dirty="0">
                <a:solidFill>
                  <a:srgbClr val="FF0000"/>
                </a:solidFill>
                <a:latin typeface="Arial" pitchFamily="34" charset="0"/>
                <a:ea typeface="Arial" pitchFamily="34" charset="-122"/>
                <a:cs typeface="Arial" pitchFamily="34" charset="-120"/>
              </a:rPr>
              <a:t>0</a:t>
            </a:r>
            <a:endParaRPr lang="en-US" sz="6000" dirty="0">
              <a:solidFill>
                <a:srgbClr val="FF0000"/>
              </a:solidFill>
            </a:endParaRPr>
          </a:p>
        </p:txBody>
      </p:sp>
      <p:sp>
        <p:nvSpPr>
          <p:cNvPr id="5" name="Text 3"/>
          <p:cNvSpPr txBox="1"/>
          <p:nvPr/>
        </p:nvSpPr>
        <p:spPr>
          <a:xfrm>
            <a:off x="822960" y="2697480"/>
            <a:ext cx="1371600" cy="1051560"/>
          </a:xfrm>
          <a:prstGeom prst="rect">
            <a:avLst/>
          </a:prstGeom>
          <a:noFill/>
          <a:ln/>
        </p:spPr>
        <p:txBody>
          <a:bodyPr wrap="square" lIns="0" tIns="0" rIns="0" bIns="0" rtlCol="0" anchor="t"/>
          <a:lstStyle/>
          <a:p>
            <a:pPr marL="0" indent="0">
              <a:buNone/>
            </a:pPr>
            <a:r>
              <a:rPr lang="en-US" sz="1900" b="1" dirty="0">
                <a:solidFill>
                  <a:schemeClr val="tx1"/>
                </a:solidFill>
                <a:latin typeface="Arial" pitchFamily="34" charset="0"/>
                <a:ea typeface="Arial" pitchFamily="34" charset="-122"/>
                <a:cs typeface="Arial" pitchFamily="34" charset="-120"/>
              </a:rPr>
              <a:t>No help</a:t>
            </a:r>
            <a:endParaRPr lang="en-US" sz="1900" dirty="0"/>
          </a:p>
        </p:txBody>
      </p:sp>
      <p:sp>
        <p:nvSpPr>
          <p:cNvPr id="6" name="Text 4"/>
          <p:cNvSpPr txBox="1"/>
          <p:nvPr/>
        </p:nvSpPr>
        <p:spPr>
          <a:xfrm>
            <a:off x="822960" y="3794760"/>
            <a:ext cx="1371600" cy="105156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The driver does everything</a:t>
            </a:r>
            <a:endParaRPr lang="en-US" sz="1600" dirty="0"/>
          </a:p>
        </p:txBody>
      </p:sp>
      <p:sp>
        <p:nvSpPr>
          <p:cNvPr id="7" name="Text 5"/>
          <p:cNvSpPr txBox="1"/>
          <p:nvPr/>
        </p:nvSpPr>
        <p:spPr>
          <a:xfrm>
            <a:off x="822960" y="5029200"/>
            <a:ext cx="1371600" cy="731520"/>
          </a:xfrm>
          <a:prstGeom prst="rect">
            <a:avLst/>
          </a:prstGeom>
          <a:noFill/>
          <a:ln/>
        </p:spPr>
        <p:txBody>
          <a:bodyPr wrap="square" lIns="0" tIns="0" rIns="0" bIns="0" rtlCol="0" anchor="b"/>
          <a:lstStyle/>
          <a:p>
            <a:pPr marL="0" indent="0">
              <a:buNone/>
            </a:pPr>
            <a:r>
              <a:rPr lang="en-US" sz="1600" b="1" i="1" dirty="0">
                <a:solidFill>
                  <a:schemeClr val="accent4"/>
                </a:solidFill>
                <a:latin typeface="Calibri" pitchFamily="34" charset="0"/>
                <a:ea typeface="Calibri" pitchFamily="34" charset="-122"/>
                <a:cs typeface="Calibri" pitchFamily="34" charset="-120"/>
              </a:rPr>
              <a:t>Old cars</a:t>
            </a:r>
            <a:endParaRPr lang="en-US" sz="1600" dirty="0"/>
          </a:p>
        </p:txBody>
      </p:sp>
      <p:sp>
        <p:nvSpPr>
          <p:cNvPr id="8" name="Level 1"/>
          <p:cNvSpPr/>
          <p:nvPr/>
        </p:nvSpPr>
        <p:spPr>
          <a:xfrm>
            <a:off x="2468880" y="1508760"/>
            <a:ext cx="1737360" cy="4526280"/>
          </a:xfrm>
          <a:prstGeom prst="roundRect">
            <a:avLst>
              <a:gd name="adj" fmla="val 6316"/>
            </a:avLst>
          </a:prstGeom>
          <a:solidFill>
            <a:schemeClr val="bg2"/>
          </a:solidFill>
          <a:ln/>
        </p:spPr>
        <p:txBody>
          <a:bodyPr/>
          <a:lstStyle/>
          <a:p>
            <a:endParaRPr lang="fr-FR"/>
          </a:p>
        </p:txBody>
      </p:sp>
      <p:sp>
        <p:nvSpPr>
          <p:cNvPr id="9" name="Text 7"/>
          <p:cNvSpPr txBox="1"/>
          <p:nvPr/>
        </p:nvSpPr>
        <p:spPr>
          <a:xfrm>
            <a:off x="2651760" y="1691640"/>
            <a:ext cx="1371600" cy="914400"/>
          </a:xfrm>
          <a:prstGeom prst="rect">
            <a:avLst/>
          </a:prstGeom>
          <a:noFill/>
          <a:ln/>
        </p:spPr>
        <p:txBody>
          <a:bodyPr wrap="square" lIns="0" tIns="0" rIns="0" bIns="0" rtlCol="0" anchor="ctr"/>
          <a:lstStyle/>
          <a:p>
            <a:pPr marL="0" indent="0">
              <a:buNone/>
            </a:pPr>
            <a:r>
              <a:rPr lang="en-US" sz="6000" b="1" dirty="0">
                <a:solidFill>
                  <a:srgbClr val="FF0000"/>
                </a:solidFill>
                <a:latin typeface="Arial" pitchFamily="34" charset="0"/>
                <a:ea typeface="Arial" pitchFamily="34" charset="-122"/>
                <a:cs typeface="Arial" pitchFamily="34" charset="-120"/>
              </a:rPr>
              <a:t>1</a:t>
            </a:r>
            <a:endParaRPr lang="en-US" sz="6000" dirty="0">
              <a:solidFill>
                <a:srgbClr val="FF0000"/>
              </a:solidFill>
            </a:endParaRPr>
          </a:p>
        </p:txBody>
      </p:sp>
      <p:sp>
        <p:nvSpPr>
          <p:cNvPr id="10" name="Text 8"/>
          <p:cNvSpPr txBox="1"/>
          <p:nvPr/>
        </p:nvSpPr>
        <p:spPr>
          <a:xfrm>
            <a:off x="2651760" y="2697480"/>
            <a:ext cx="1371600" cy="1051560"/>
          </a:xfrm>
          <a:prstGeom prst="rect">
            <a:avLst/>
          </a:prstGeom>
          <a:noFill/>
          <a:ln/>
        </p:spPr>
        <p:txBody>
          <a:bodyPr wrap="square" lIns="0" tIns="0" rIns="0" bIns="0" rtlCol="0" anchor="t"/>
          <a:lstStyle/>
          <a:p>
            <a:r>
              <a:rPr lang="en-US" sz="1900" b="1" dirty="0">
                <a:latin typeface="Arial" pitchFamily="34" charset="0"/>
                <a:ea typeface="Arial" pitchFamily="34" charset="-122"/>
                <a:cs typeface="Arial" pitchFamily="34" charset="-120"/>
              </a:rPr>
              <a:t>Car drives, you watch</a:t>
            </a:r>
            <a:endParaRPr lang="en-US" sz="1900" dirty="0"/>
          </a:p>
        </p:txBody>
      </p:sp>
      <p:sp>
        <p:nvSpPr>
          <p:cNvPr id="11" name="Text 9"/>
          <p:cNvSpPr txBox="1"/>
          <p:nvPr/>
        </p:nvSpPr>
        <p:spPr>
          <a:xfrm>
            <a:off x="2651760" y="3794760"/>
            <a:ext cx="1371600" cy="1051560"/>
          </a:xfrm>
          <a:prstGeom prst="rect">
            <a:avLst/>
          </a:prstGeom>
          <a:noFill/>
          <a:ln/>
        </p:spPr>
        <p:txBody>
          <a:bodyPr wrap="square" lIns="0" tIns="0" rIns="0" bIns="0" rtlCol="0" anchor="t"/>
          <a:lstStyle/>
          <a:p>
            <a:r>
              <a:rPr lang="en-US" sz="1600" dirty="0">
                <a:solidFill>
                  <a:schemeClr val="tx2"/>
                </a:solidFill>
                <a:latin typeface="Calibri" pitchFamily="34" charset="0"/>
                <a:ea typeface="Calibri" pitchFamily="34" charset="-122"/>
                <a:cs typeface="Calibri" pitchFamily="34" charset="-120"/>
              </a:rPr>
              <a:t>Hands ready, eyes on the road</a:t>
            </a:r>
            <a:endParaRPr lang="en-US" sz="1600" dirty="0"/>
          </a:p>
        </p:txBody>
      </p:sp>
      <p:sp>
        <p:nvSpPr>
          <p:cNvPr id="12" name="Text 10"/>
          <p:cNvSpPr txBox="1"/>
          <p:nvPr/>
        </p:nvSpPr>
        <p:spPr>
          <a:xfrm>
            <a:off x="2651760" y="5029200"/>
            <a:ext cx="1371600" cy="731520"/>
          </a:xfrm>
          <a:prstGeom prst="rect">
            <a:avLst/>
          </a:prstGeom>
          <a:noFill/>
          <a:ln/>
        </p:spPr>
        <p:txBody>
          <a:bodyPr wrap="square" lIns="0" tIns="0" rIns="0" bIns="0" rtlCol="0" anchor="b"/>
          <a:lstStyle/>
          <a:p>
            <a:r>
              <a:rPr lang="en-US" sz="1600" b="1" i="1" dirty="0">
                <a:solidFill>
                  <a:schemeClr val="accent4"/>
                </a:solidFill>
                <a:latin typeface="Calibri" pitchFamily="34" charset="0"/>
                <a:ea typeface="Calibri" pitchFamily="34" charset="-122"/>
                <a:cs typeface="Calibri" pitchFamily="34" charset="-120"/>
              </a:rPr>
              <a:t>Tesla FSD</a:t>
            </a:r>
            <a:endParaRPr lang="en-US" sz="1600" dirty="0"/>
          </a:p>
        </p:txBody>
      </p:sp>
      <p:sp>
        <p:nvSpPr>
          <p:cNvPr id="13" name="Level 2"/>
          <p:cNvSpPr/>
          <p:nvPr/>
        </p:nvSpPr>
        <p:spPr>
          <a:xfrm>
            <a:off x="4297680" y="1508760"/>
            <a:ext cx="1737360" cy="4526280"/>
          </a:xfrm>
          <a:prstGeom prst="roundRect">
            <a:avLst>
              <a:gd name="adj" fmla="val 6316"/>
            </a:avLst>
          </a:prstGeom>
          <a:solidFill>
            <a:schemeClr val="bg2"/>
          </a:solidFill>
          <a:ln/>
        </p:spPr>
        <p:txBody>
          <a:bodyPr/>
          <a:lstStyle/>
          <a:p>
            <a:endParaRPr lang="fr-FR"/>
          </a:p>
        </p:txBody>
      </p:sp>
      <p:sp>
        <p:nvSpPr>
          <p:cNvPr id="14" name="Text 12"/>
          <p:cNvSpPr txBox="1"/>
          <p:nvPr/>
        </p:nvSpPr>
        <p:spPr>
          <a:xfrm>
            <a:off x="4480560" y="1691640"/>
            <a:ext cx="1371600" cy="914400"/>
          </a:xfrm>
          <a:prstGeom prst="rect">
            <a:avLst/>
          </a:prstGeom>
          <a:noFill/>
          <a:ln/>
        </p:spPr>
        <p:txBody>
          <a:bodyPr wrap="square" lIns="0" tIns="0" rIns="0" bIns="0" rtlCol="0" anchor="ctr"/>
          <a:lstStyle/>
          <a:p>
            <a:pPr marL="0" indent="0">
              <a:buNone/>
            </a:pPr>
            <a:r>
              <a:rPr lang="en-US" sz="6000" b="1" dirty="0">
                <a:solidFill>
                  <a:srgbClr val="FF0000"/>
                </a:solidFill>
                <a:latin typeface="Arial" pitchFamily="34" charset="0"/>
                <a:ea typeface="Arial" pitchFamily="34" charset="-122"/>
                <a:cs typeface="Arial" pitchFamily="34" charset="-120"/>
              </a:rPr>
              <a:t>2</a:t>
            </a:r>
            <a:endParaRPr lang="en-US" sz="6000" dirty="0">
              <a:solidFill>
                <a:srgbClr val="FF0000"/>
              </a:solidFill>
            </a:endParaRPr>
          </a:p>
        </p:txBody>
      </p:sp>
      <p:sp>
        <p:nvSpPr>
          <p:cNvPr id="15" name="Text 13"/>
          <p:cNvSpPr txBox="1"/>
          <p:nvPr/>
        </p:nvSpPr>
        <p:spPr>
          <a:xfrm>
            <a:off x="4480560" y="2697480"/>
            <a:ext cx="1371600" cy="1051560"/>
          </a:xfrm>
          <a:prstGeom prst="rect">
            <a:avLst/>
          </a:prstGeom>
          <a:noFill/>
          <a:ln/>
        </p:spPr>
        <p:txBody>
          <a:bodyPr wrap="square" lIns="0" tIns="0" rIns="0" bIns="0" rtlCol="0" anchor="t"/>
          <a:lstStyle/>
          <a:p>
            <a:r>
              <a:rPr lang="en-US" sz="1900" b="1" dirty="0">
                <a:latin typeface="Arial" pitchFamily="34" charset="0"/>
                <a:ea typeface="Arial" pitchFamily="34" charset="-122"/>
                <a:cs typeface="Arial" pitchFamily="34" charset="-120"/>
              </a:rPr>
              <a:t>Eyes off, sometimes</a:t>
            </a:r>
            <a:endParaRPr lang="en-US" sz="1900" dirty="0"/>
          </a:p>
        </p:txBody>
      </p:sp>
      <p:sp>
        <p:nvSpPr>
          <p:cNvPr id="16" name="Text 14"/>
          <p:cNvSpPr txBox="1"/>
          <p:nvPr/>
        </p:nvSpPr>
        <p:spPr>
          <a:xfrm>
            <a:off x="4480560" y="3794760"/>
            <a:ext cx="1371600" cy="1051560"/>
          </a:xfrm>
          <a:prstGeom prst="rect">
            <a:avLst/>
          </a:prstGeom>
          <a:noFill/>
          <a:ln/>
        </p:spPr>
        <p:txBody>
          <a:bodyPr wrap="square" lIns="0" tIns="0" rIns="0" bIns="0" rtlCol="0" anchor="t"/>
          <a:lstStyle/>
          <a:p>
            <a:r>
              <a:rPr lang="en-US" sz="1600" dirty="0">
                <a:solidFill>
                  <a:schemeClr val="tx2"/>
                </a:solidFill>
                <a:latin typeface="Calibri" pitchFamily="34" charset="0"/>
                <a:ea typeface="Calibri" pitchFamily="34" charset="-122"/>
                <a:cs typeface="Calibri" pitchFamily="34" charset="-120"/>
              </a:rPr>
              <a:t>Only on highways in </a:t>
            </a:r>
            <a:r>
              <a:rPr lang="en-US" sz="1600" dirty="0" err="1">
                <a:solidFill>
                  <a:schemeClr val="tx2"/>
                </a:solidFill>
                <a:latin typeface="Calibri" pitchFamily="34" charset="0"/>
                <a:ea typeface="Calibri" pitchFamily="34" charset="-122"/>
                <a:cs typeface="Calibri" pitchFamily="34" charset="-120"/>
              </a:rPr>
              <a:t>Californie</a:t>
            </a:r>
            <a:r>
              <a:rPr lang="en-US" sz="1600" dirty="0">
                <a:solidFill>
                  <a:schemeClr val="tx2"/>
                </a:solidFill>
                <a:latin typeface="Calibri" pitchFamily="34" charset="0"/>
                <a:ea typeface="Calibri" pitchFamily="34" charset="-122"/>
                <a:cs typeface="Calibri" pitchFamily="34" charset="-120"/>
              </a:rPr>
              <a:t> and Nevada</a:t>
            </a:r>
            <a:endParaRPr lang="en-US" sz="1600" dirty="0"/>
          </a:p>
        </p:txBody>
      </p:sp>
      <p:sp>
        <p:nvSpPr>
          <p:cNvPr id="17" name="Text 15"/>
          <p:cNvSpPr txBox="1"/>
          <p:nvPr/>
        </p:nvSpPr>
        <p:spPr>
          <a:xfrm>
            <a:off x="4480560" y="5029200"/>
            <a:ext cx="1371600" cy="731520"/>
          </a:xfrm>
          <a:prstGeom prst="rect">
            <a:avLst/>
          </a:prstGeom>
          <a:noFill/>
          <a:ln/>
        </p:spPr>
        <p:txBody>
          <a:bodyPr wrap="square" lIns="0" tIns="0" rIns="0" bIns="0" rtlCol="0" anchor="b"/>
          <a:lstStyle/>
          <a:p>
            <a:r>
              <a:rPr lang="en-US" sz="1600" b="1" i="1" dirty="0">
                <a:solidFill>
                  <a:schemeClr val="accent4"/>
                </a:solidFill>
                <a:latin typeface="Calibri" pitchFamily="34" charset="0"/>
                <a:ea typeface="Calibri" pitchFamily="34" charset="-122"/>
                <a:cs typeface="Calibri" pitchFamily="34" charset="-120"/>
              </a:rPr>
              <a:t>Mercedes (2022)</a:t>
            </a:r>
            <a:endParaRPr lang="en-US" sz="1600" dirty="0"/>
          </a:p>
        </p:txBody>
      </p:sp>
      <p:sp>
        <p:nvSpPr>
          <p:cNvPr id="19" name="Text 17"/>
          <p:cNvSpPr txBox="1"/>
          <p:nvPr/>
        </p:nvSpPr>
        <p:spPr>
          <a:xfrm>
            <a:off x="6370320" y="1719012"/>
            <a:ext cx="1371600" cy="914400"/>
          </a:xfrm>
          <a:prstGeom prst="rect">
            <a:avLst/>
          </a:prstGeom>
          <a:noFill/>
          <a:ln/>
        </p:spPr>
        <p:txBody>
          <a:bodyPr wrap="square" lIns="0" tIns="0" rIns="0" bIns="0" rtlCol="0" anchor="ctr"/>
          <a:lstStyle/>
          <a:p>
            <a:pPr marL="0" indent="0">
              <a:buNone/>
            </a:pPr>
            <a:r>
              <a:rPr lang="en-US" sz="6000" b="1" dirty="0">
                <a:solidFill>
                  <a:srgbClr val="FF0000"/>
                </a:solidFill>
                <a:latin typeface="Arial" pitchFamily="34" charset="0"/>
                <a:ea typeface="Arial" pitchFamily="34" charset="-122"/>
                <a:cs typeface="Arial" pitchFamily="34" charset="-120"/>
              </a:rPr>
              <a:t>3</a:t>
            </a:r>
            <a:endParaRPr lang="en-US" sz="6000" dirty="0">
              <a:solidFill>
                <a:srgbClr val="FF0000"/>
              </a:solidFill>
            </a:endParaRPr>
          </a:p>
        </p:txBody>
      </p:sp>
      <p:sp>
        <p:nvSpPr>
          <p:cNvPr id="20" name="Text 18"/>
          <p:cNvSpPr txBox="1"/>
          <p:nvPr/>
        </p:nvSpPr>
        <p:spPr>
          <a:xfrm>
            <a:off x="6309360" y="2697480"/>
            <a:ext cx="1371600" cy="1051560"/>
          </a:xfrm>
          <a:prstGeom prst="rect">
            <a:avLst/>
          </a:prstGeom>
          <a:noFill/>
          <a:ln/>
        </p:spPr>
        <p:txBody>
          <a:bodyPr wrap="square" lIns="0" tIns="0" rIns="0" bIns="0" rtlCol="0" anchor="t"/>
          <a:lstStyle/>
          <a:p>
            <a:r>
              <a:rPr lang="en-US" sz="1900" b="1" dirty="0">
                <a:solidFill>
                  <a:schemeClr val="bg1"/>
                </a:solidFill>
                <a:latin typeface="Arial" pitchFamily="34" charset="0"/>
                <a:ea typeface="Arial" pitchFamily="34" charset="-122"/>
                <a:cs typeface="Arial" pitchFamily="34" charset="-120"/>
              </a:rPr>
              <a:t>No driver</a:t>
            </a:r>
            <a:endParaRPr lang="en-US" sz="1900" dirty="0"/>
          </a:p>
        </p:txBody>
      </p:sp>
      <p:sp>
        <p:nvSpPr>
          <p:cNvPr id="21" name="Text 19"/>
          <p:cNvSpPr txBox="1"/>
          <p:nvPr/>
        </p:nvSpPr>
        <p:spPr>
          <a:xfrm>
            <a:off x="6309360" y="3794760"/>
            <a:ext cx="1371600" cy="1051560"/>
          </a:xfrm>
          <a:prstGeom prst="rect">
            <a:avLst/>
          </a:prstGeom>
          <a:noFill/>
          <a:ln/>
        </p:spPr>
        <p:txBody>
          <a:bodyPr wrap="square" lIns="0" tIns="0" rIns="0" bIns="0" rtlCol="0" anchor="t"/>
          <a:lstStyle/>
          <a:p>
            <a:r>
              <a:rPr lang="en-US" sz="1600" dirty="0">
                <a:solidFill>
                  <a:schemeClr val="bg1"/>
                </a:solidFill>
                <a:latin typeface="Calibri" pitchFamily="34" charset="0"/>
                <a:ea typeface="Calibri" pitchFamily="34" charset="-122"/>
                <a:cs typeface="Calibri" pitchFamily="34" charset="-120"/>
              </a:rPr>
              <a:t>Only in some Country</a:t>
            </a:r>
            <a:endParaRPr lang="en-US" sz="1600" dirty="0"/>
          </a:p>
        </p:txBody>
      </p:sp>
      <p:sp>
        <p:nvSpPr>
          <p:cNvPr id="22" name="Text 20"/>
          <p:cNvSpPr txBox="1"/>
          <p:nvPr/>
        </p:nvSpPr>
        <p:spPr>
          <a:xfrm>
            <a:off x="6309360" y="5029200"/>
            <a:ext cx="1371600" cy="731520"/>
          </a:xfrm>
          <a:prstGeom prst="rect">
            <a:avLst/>
          </a:prstGeom>
          <a:noFill/>
          <a:ln/>
        </p:spPr>
        <p:txBody>
          <a:bodyPr wrap="square" lIns="0" tIns="0" rIns="0" bIns="0" rtlCol="0" anchor="b"/>
          <a:lstStyle/>
          <a:p>
            <a:r>
              <a:rPr lang="en-US" sz="1600" b="1" i="1" dirty="0">
                <a:solidFill>
                  <a:schemeClr val="bg1"/>
                </a:solidFill>
                <a:latin typeface="Calibri" pitchFamily="34" charset="0"/>
                <a:ea typeface="Calibri" pitchFamily="34" charset="-122"/>
                <a:cs typeface="Calibri" pitchFamily="34" charset="-120"/>
              </a:rPr>
              <a:t>Waymo, Baidu</a:t>
            </a:r>
            <a:endParaRPr lang="en-US" sz="1600" dirty="0"/>
          </a:p>
        </p:txBody>
      </p:sp>
      <p:sp>
        <p:nvSpPr>
          <p:cNvPr id="24" name="Text 22"/>
          <p:cNvSpPr txBox="1"/>
          <p:nvPr/>
        </p:nvSpPr>
        <p:spPr>
          <a:xfrm>
            <a:off x="8250455" y="457200"/>
            <a:ext cx="1371600" cy="914400"/>
          </a:xfrm>
          <a:prstGeom prst="rect">
            <a:avLst/>
          </a:prstGeom>
          <a:noFill/>
          <a:ln/>
        </p:spPr>
        <p:txBody>
          <a:bodyPr wrap="square" lIns="0" tIns="0" rIns="0" bIns="0" rtlCol="0" anchor="ctr"/>
          <a:lstStyle/>
          <a:p>
            <a:pPr marL="0" indent="0">
              <a:buNone/>
            </a:pPr>
            <a:r>
              <a:rPr lang="en-US" sz="6000" b="1" dirty="0">
                <a:solidFill>
                  <a:schemeClr val="bg1"/>
                </a:solidFill>
                <a:latin typeface="Arial" pitchFamily="34" charset="0"/>
                <a:ea typeface="Arial" pitchFamily="34" charset="-122"/>
                <a:cs typeface="Arial" pitchFamily="34" charset="-120"/>
              </a:rPr>
              <a:t>4</a:t>
            </a:r>
            <a:endParaRPr lang="en-US" sz="6000" dirty="0"/>
          </a:p>
        </p:txBody>
      </p:sp>
      <p:sp>
        <p:nvSpPr>
          <p:cNvPr id="25" name="Text 23"/>
          <p:cNvSpPr txBox="1"/>
          <p:nvPr/>
        </p:nvSpPr>
        <p:spPr>
          <a:xfrm>
            <a:off x="8138160" y="2697480"/>
            <a:ext cx="1371600" cy="1051560"/>
          </a:xfrm>
          <a:prstGeom prst="rect">
            <a:avLst/>
          </a:prstGeom>
          <a:noFill/>
          <a:ln/>
        </p:spPr>
        <p:txBody>
          <a:bodyPr wrap="square" lIns="0" tIns="0" rIns="0" bIns="0" rtlCol="0" anchor="t"/>
          <a:lstStyle/>
          <a:p>
            <a:pPr marL="0" indent="0">
              <a:buNone/>
            </a:pPr>
            <a:r>
              <a:rPr lang="en-US" sz="1900" b="1" dirty="0">
                <a:solidFill>
                  <a:schemeClr val="bg1"/>
                </a:solidFill>
                <a:latin typeface="Arial" pitchFamily="34" charset="0"/>
                <a:ea typeface="Arial" pitchFamily="34" charset="-122"/>
                <a:cs typeface="Arial" pitchFamily="34" charset="-120"/>
              </a:rPr>
              <a:t>No driver</a:t>
            </a:r>
            <a:endParaRPr lang="en-US" sz="1900" dirty="0"/>
          </a:p>
        </p:txBody>
      </p:sp>
      <p:sp>
        <p:nvSpPr>
          <p:cNvPr id="26" name="Text 24"/>
          <p:cNvSpPr txBox="1"/>
          <p:nvPr/>
        </p:nvSpPr>
        <p:spPr>
          <a:xfrm>
            <a:off x="8138160" y="3794760"/>
            <a:ext cx="1371600" cy="1051560"/>
          </a:xfrm>
          <a:prstGeom prst="rect">
            <a:avLst/>
          </a:prstGeom>
          <a:noFill/>
          <a:ln/>
        </p:spPr>
        <p:txBody>
          <a:bodyPr wrap="square" lIns="0" tIns="0" rIns="0" bIns="0" rtlCol="0" anchor="t"/>
          <a:lstStyle/>
          <a:p>
            <a:pPr marL="0" indent="0">
              <a:buNone/>
            </a:pPr>
            <a:r>
              <a:rPr lang="en-US" sz="1600" dirty="0">
                <a:solidFill>
                  <a:schemeClr val="bg1"/>
                </a:solidFill>
                <a:latin typeface="Calibri" pitchFamily="34" charset="0"/>
                <a:ea typeface="Calibri" pitchFamily="34" charset="-122"/>
                <a:cs typeface="Calibri" pitchFamily="34" charset="-120"/>
              </a:rPr>
              <a:t>Only in some cities</a:t>
            </a:r>
            <a:endParaRPr lang="en-US" sz="1600" dirty="0"/>
          </a:p>
        </p:txBody>
      </p:sp>
      <p:sp>
        <p:nvSpPr>
          <p:cNvPr id="27" name="Text 25"/>
          <p:cNvSpPr txBox="1"/>
          <p:nvPr/>
        </p:nvSpPr>
        <p:spPr>
          <a:xfrm>
            <a:off x="8138160" y="5029200"/>
            <a:ext cx="1371600" cy="731520"/>
          </a:xfrm>
          <a:prstGeom prst="rect">
            <a:avLst/>
          </a:prstGeom>
          <a:noFill/>
          <a:ln/>
        </p:spPr>
        <p:txBody>
          <a:bodyPr wrap="square" lIns="0" tIns="0" rIns="0" bIns="0" rtlCol="0" anchor="b"/>
          <a:lstStyle/>
          <a:p>
            <a:pPr marL="0" indent="0">
              <a:buNone/>
            </a:pPr>
            <a:r>
              <a:rPr lang="en-US" sz="1600" b="1" i="1" dirty="0">
                <a:solidFill>
                  <a:schemeClr val="bg1"/>
                </a:solidFill>
                <a:latin typeface="Calibri" pitchFamily="34" charset="0"/>
                <a:ea typeface="Calibri" pitchFamily="34" charset="-122"/>
                <a:cs typeface="Calibri" pitchFamily="34" charset="-120"/>
              </a:rPr>
              <a:t>Waymo, Baidu</a:t>
            </a:r>
            <a:endParaRPr lang="en-US" sz="1600" dirty="0"/>
          </a:p>
        </p:txBody>
      </p:sp>
      <p:sp>
        <p:nvSpPr>
          <p:cNvPr id="28" name="Level 5"/>
          <p:cNvSpPr/>
          <p:nvPr/>
        </p:nvSpPr>
        <p:spPr>
          <a:xfrm>
            <a:off x="7985760" y="1531620"/>
            <a:ext cx="1737360" cy="4526280"/>
          </a:xfrm>
          <a:prstGeom prst="roundRect">
            <a:avLst>
              <a:gd name="adj" fmla="val 6316"/>
            </a:avLst>
          </a:prstGeom>
          <a:solidFill>
            <a:schemeClr val="bg2"/>
          </a:solidFill>
          <a:ln/>
        </p:spPr>
        <p:txBody>
          <a:bodyPr/>
          <a:lstStyle/>
          <a:p>
            <a:endParaRPr lang="fr-FR"/>
          </a:p>
        </p:txBody>
      </p:sp>
      <p:sp>
        <p:nvSpPr>
          <p:cNvPr id="29" name="Text 27"/>
          <p:cNvSpPr txBox="1"/>
          <p:nvPr/>
        </p:nvSpPr>
        <p:spPr>
          <a:xfrm>
            <a:off x="8128535" y="1751397"/>
            <a:ext cx="1371600" cy="914400"/>
          </a:xfrm>
          <a:prstGeom prst="rect">
            <a:avLst/>
          </a:prstGeom>
          <a:noFill/>
          <a:ln/>
        </p:spPr>
        <p:txBody>
          <a:bodyPr wrap="square" lIns="0" tIns="0" rIns="0" bIns="0" rtlCol="0" anchor="ctr"/>
          <a:lstStyle/>
          <a:p>
            <a:pPr marL="0" indent="0">
              <a:buNone/>
            </a:pPr>
            <a:r>
              <a:rPr lang="en-US" sz="6000" b="1" dirty="0">
                <a:solidFill>
                  <a:srgbClr val="FF0000"/>
                </a:solidFill>
                <a:latin typeface="Arial" pitchFamily="34" charset="0"/>
                <a:ea typeface="Arial" pitchFamily="34" charset="-122"/>
                <a:cs typeface="Arial" pitchFamily="34" charset="-120"/>
              </a:rPr>
              <a:t>5</a:t>
            </a:r>
            <a:endParaRPr lang="en-US" sz="6000" dirty="0">
              <a:solidFill>
                <a:srgbClr val="FF0000"/>
              </a:solidFill>
            </a:endParaRPr>
          </a:p>
        </p:txBody>
      </p:sp>
      <p:sp>
        <p:nvSpPr>
          <p:cNvPr id="30" name="Text 28"/>
          <p:cNvSpPr txBox="1"/>
          <p:nvPr/>
        </p:nvSpPr>
        <p:spPr>
          <a:xfrm>
            <a:off x="8138160" y="2697480"/>
            <a:ext cx="1371600" cy="1051560"/>
          </a:xfrm>
          <a:prstGeom prst="rect">
            <a:avLst/>
          </a:prstGeom>
          <a:noFill/>
          <a:ln/>
        </p:spPr>
        <p:txBody>
          <a:bodyPr wrap="square" lIns="0" tIns="0" rIns="0" bIns="0" rtlCol="0" anchor="t"/>
          <a:lstStyle/>
          <a:p>
            <a:pPr marL="0" indent="0">
              <a:buNone/>
            </a:pPr>
            <a:r>
              <a:rPr lang="en-US" sz="1900" b="1" dirty="0">
                <a:solidFill>
                  <a:schemeClr val="tx1"/>
                </a:solidFill>
                <a:latin typeface="Arial" pitchFamily="34" charset="0"/>
                <a:ea typeface="Arial" pitchFamily="34" charset="-122"/>
                <a:cs typeface="Arial" pitchFamily="34" charset="-120"/>
              </a:rPr>
              <a:t>No driver, everywhere</a:t>
            </a:r>
            <a:endParaRPr lang="en-US" sz="1900" dirty="0"/>
          </a:p>
        </p:txBody>
      </p:sp>
      <p:sp>
        <p:nvSpPr>
          <p:cNvPr id="31" name="Text 29"/>
          <p:cNvSpPr txBox="1"/>
          <p:nvPr/>
        </p:nvSpPr>
        <p:spPr>
          <a:xfrm>
            <a:off x="8046720" y="3771900"/>
            <a:ext cx="1371600" cy="105156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Does not exist yet</a:t>
            </a:r>
            <a:endParaRPr lang="en-US" sz="1600" dirty="0"/>
          </a:p>
        </p:txBody>
      </p:sp>
      <p:sp>
        <p:nvSpPr>
          <p:cNvPr id="32" name="Text 30"/>
          <p:cNvSpPr txBox="1"/>
          <p:nvPr/>
        </p:nvSpPr>
        <p:spPr>
          <a:xfrm>
            <a:off x="9332495" y="4909285"/>
            <a:ext cx="1371600" cy="731520"/>
          </a:xfrm>
          <a:prstGeom prst="rect">
            <a:avLst/>
          </a:prstGeom>
          <a:noFill/>
          <a:ln/>
        </p:spPr>
        <p:txBody>
          <a:bodyPr wrap="square" lIns="0" tIns="0" rIns="0" bIns="0" rtlCol="0" anchor="b"/>
          <a:lstStyle/>
          <a:p>
            <a:pPr marL="0" indent="0">
              <a:buNone/>
            </a:pPr>
            <a:r>
              <a:rPr lang="en-US" sz="1600" b="1" i="1" dirty="0">
                <a:solidFill>
                  <a:schemeClr val="accent4"/>
                </a:solidFill>
                <a:latin typeface="Calibri" pitchFamily="34" charset="0"/>
                <a:ea typeface="Calibri" pitchFamily="34" charset="-122"/>
                <a:cs typeface="Calibri" pitchFamily="34" charset="-120"/>
              </a:rPr>
              <a:t>-</a:t>
            </a:r>
            <a:endParaRPr lang="en-US" sz="1600" dirty="0"/>
          </a:p>
        </p:txBody>
      </p:sp>
      <p:sp>
        <p:nvSpPr>
          <p:cNvPr id="33"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lIns="0" tIns="0" rIns="0" bIns="0" rtlCol="0" anchor="t"/>
          <a:lstStyle/>
          <a:p>
            <a:pPr marL="0" indent="0" algn="l">
              <a:buNone/>
            </a:pPr>
            <a:r>
              <a:rPr lang="en-US" sz="3800" b="1" dirty="0">
                <a:solidFill>
                  <a:schemeClr val="tx1"/>
                </a:solidFill>
              </a:rPr>
              <a:t>2026: What Happened?</a:t>
            </a:r>
            <a:endParaRPr lang="en-US" sz="3800" dirty="0"/>
          </a:p>
        </p:txBody>
      </p:sp>
      <p:sp>
        <p:nvSpPr>
          <p:cNvPr id="3" name="Timeline"/>
          <p:cNvSpPr/>
          <p:nvPr/>
        </p:nvSpPr>
        <p:spPr>
          <a:xfrm>
            <a:off x="2834640" y="1691640"/>
            <a:ext cx="0" cy="4343400"/>
          </a:xfrm>
          <a:prstGeom prst="line">
            <a:avLst/>
          </a:prstGeom>
          <a:noFill/>
          <a:ln w="31750">
            <a:solidFill>
              <a:schemeClr val="accent5"/>
            </a:solidFill>
            <a:prstDash val="solid"/>
          </a:ln>
        </p:spPr>
        <p:txBody>
          <a:bodyPr/>
          <a:lstStyle/>
          <a:p>
            <a:endParaRPr lang="fr-FR"/>
          </a:p>
        </p:txBody>
      </p:sp>
      <p:sp>
        <p:nvSpPr>
          <p:cNvPr id="4" name="Text 2"/>
          <p:cNvSpPr txBox="1"/>
          <p:nvPr/>
        </p:nvSpPr>
        <p:spPr>
          <a:xfrm>
            <a:off x="640080" y="1554480"/>
            <a:ext cx="1920240" cy="548640"/>
          </a:xfrm>
          <a:prstGeom prst="rect">
            <a:avLst/>
          </a:prstGeom>
          <a:noFill/>
          <a:ln/>
        </p:spPr>
        <p:txBody>
          <a:bodyPr wrap="square" lIns="0" tIns="0" rIns="0" bIns="0" rtlCol="0" anchor="ctr"/>
          <a:lstStyle/>
          <a:p>
            <a:pPr marL="0" indent="0" algn="r">
              <a:buNone/>
            </a:pPr>
            <a:r>
              <a:rPr lang="en-US" sz="2400" b="1" dirty="0">
                <a:solidFill>
                  <a:schemeClr val="tx1"/>
                </a:solidFill>
                <a:latin typeface="Arial" pitchFamily="34" charset="0"/>
                <a:ea typeface="Arial" pitchFamily="34" charset="-122"/>
                <a:cs typeface="Arial" pitchFamily="34" charset="-120"/>
              </a:rPr>
              <a:t>April</a:t>
            </a:r>
            <a:endParaRPr lang="en-US" sz="2400" dirty="0"/>
          </a:p>
        </p:txBody>
      </p:sp>
      <p:sp>
        <p:nvSpPr>
          <p:cNvPr id="5" name="Event dot 1"/>
          <p:cNvSpPr/>
          <p:nvPr/>
        </p:nvSpPr>
        <p:spPr>
          <a:xfrm>
            <a:off x="2688336" y="1682496"/>
            <a:ext cx="292608" cy="292608"/>
          </a:xfrm>
          <a:prstGeom prst="ellipse">
            <a:avLst/>
          </a:prstGeom>
          <a:solidFill>
            <a:schemeClr val="tx1"/>
          </a:solidFill>
          <a:ln/>
        </p:spPr>
        <p:txBody>
          <a:bodyPr/>
          <a:lstStyle/>
          <a:p>
            <a:endParaRPr lang="fr-FR"/>
          </a:p>
        </p:txBody>
      </p:sp>
      <p:sp>
        <p:nvSpPr>
          <p:cNvPr id="6" name="Text 4"/>
          <p:cNvSpPr txBox="1"/>
          <p:nvPr/>
        </p:nvSpPr>
        <p:spPr>
          <a:xfrm>
            <a:off x="3291840" y="1554480"/>
            <a:ext cx="7772400" cy="548640"/>
          </a:xfrm>
          <a:prstGeom prst="rect">
            <a:avLst/>
          </a:prstGeom>
          <a:noFill/>
          <a:ln/>
        </p:spPr>
        <p:txBody>
          <a:bodyPr wrap="square" lIns="0" tIns="0" rIns="0" bIns="0" rtlCol="0" anchor="ctr"/>
          <a:lstStyle/>
          <a:p>
            <a:pPr marL="0" indent="0">
              <a:buNone/>
            </a:pPr>
            <a:r>
              <a:rPr lang="en-US" sz="2400" dirty="0">
                <a:solidFill>
                  <a:schemeClr val="tx1"/>
                </a:solidFill>
                <a:latin typeface="Calibri" pitchFamily="34" charset="0"/>
                <a:ea typeface="Calibri" pitchFamily="34" charset="-122"/>
                <a:cs typeface="Calibri" pitchFamily="34" charset="-120"/>
              </a:rPr>
              <a:t>First robotaxi service in Europe (Zagreb, Croatia)</a:t>
            </a:r>
            <a:endParaRPr lang="en-US" sz="2400" dirty="0"/>
          </a:p>
        </p:txBody>
      </p:sp>
      <p:sp>
        <p:nvSpPr>
          <p:cNvPr id="7" name="Text 5"/>
          <p:cNvSpPr txBox="1"/>
          <p:nvPr/>
        </p:nvSpPr>
        <p:spPr>
          <a:xfrm>
            <a:off x="640080" y="2450592"/>
            <a:ext cx="1920240" cy="548640"/>
          </a:xfrm>
          <a:prstGeom prst="rect">
            <a:avLst/>
          </a:prstGeom>
          <a:noFill/>
          <a:ln/>
        </p:spPr>
        <p:txBody>
          <a:bodyPr wrap="square" lIns="0" tIns="0" rIns="0" bIns="0" rtlCol="0" anchor="ctr"/>
          <a:lstStyle/>
          <a:p>
            <a:pPr marL="0" indent="0" algn="r">
              <a:buNone/>
            </a:pPr>
            <a:r>
              <a:rPr lang="en-US" sz="2400" b="1" dirty="0">
                <a:solidFill>
                  <a:schemeClr val="tx1"/>
                </a:solidFill>
                <a:latin typeface="Arial" pitchFamily="34" charset="0"/>
                <a:ea typeface="Arial" pitchFamily="34" charset="-122"/>
                <a:cs typeface="Arial" pitchFamily="34" charset="-120"/>
              </a:rPr>
              <a:t>April</a:t>
            </a:r>
            <a:endParaRPr lang="en-US" sz="2400" dirty="0"/>
          </a:p>
        </p:txBody>
      </p:sp>
      <p:sp>
        <p:nvSpPr>
          <p:cNvPr id="8" name="Event dot 2"/>
          <p:cNvSpPr/>
          <p:nvPr/>
        </p:nvSpPr>
        <p:spPr>
          <a:xfrm>
            <a:off x="2688336" y="2578608"/>
            <a:ext cx="292608" cy="292608"/>
          </a:xfrm>
          <a:prstGeom prst="ellipse">
            <a:avLst/>
          </a:prstGeom>
          <a:solidFill>
            <a:schemeClr val="tx1"/>
          </a:solidFill>
          <a:ln/>
        </p:spPr>
        <p:txBody>
          <a:bodyPr/>
          <a:lstStyle/>
          <a:p>
            <a:endParaRPr lang="fr-FR"/>
          </a:p>
        </p:txBody>
      </p:sp>
      <p:sp>
        <p:nvSpPr>
          <p:cNvPr id="9" name="Text 7"/>
          <p:cNvSpPr txBox="1"/>
          <p:nvPr/>
        </p:nvSpPr>
        <p:spPr>
          <a:xfrm>
            <a:off x="3291840" y="2450592"/>
            <a:ext cx="7772400" cy="548640"/>
          </a:xfrm>
          <a:prstGeom prst="rect">
            <a:avLst/>
          </a:prstGeom>
          <a:noFill/>
          <a:ln/>
        </p:spPr>
        <p:txBody>
          <a:bodyPr wrap="square" lIns="0" tIns="0" rIns="0" bIns="0" rtlCol="0" anchor="ctr"/>
          <a:lstStyle/>
          <a:p>
            <a:pPr marL="0" indent="0">
              <a:buNone/>
            </a:pPr>
            <a:r>
              <a:rPr lang="en-US" sz="2400" dirty="0">
                <a:solidFill>
                  <a:schemeClr val="tx1"/>
                </a:solidFill>
                <a:latin typeface="Calibri" pitchFamily="34" charset="0"/>
                <a:ea typeface="Calibri" pitchFamily="34" charset="-122"/>
                <a:cs typeface="Calibri" pitchFamily="34" charset="-120"/>
              </a:rPr>
              <a:t>Tesla FSD approved in the Netherlands</a:t>
            </a:r>
            <a:endParaRPr lang="en-US" sz="2400" dirty="0"/>
          </a:p>
        </p:txBody>
      </p:sp>
      <p:sp>
        <p:nvSpPr>
          <p:cNvPr id="10" name="Text 8"/>
          <p:cNvSpPr txBox="1"/>
          <p:nvPr/>
        </p:nvSpPr>
        <p:spPr>
          <a:xfrm>
            <a:off x="640080" y="3346704"/>
            <a:ext cx="1920240" cy="548640"/>
          </a:xfrm>
          <a:prstGeom prst="rect">
            <a:avLst/>
          </a:prstGeom>
          <a:noFill/>
          <a:ln/>
        </p:spPr>
        <p:txBody>
          <a:bodyPr wrap="square" lIns="0" tIns="0" rIns="0" bIns="0" rtlCol="0" anchor="ctr"/>
          <a:lstStyle/>
          <a:p>
            <a:pPr marL="0" indent="0" algn="r">
              <a:buNone/>
            </a:pPr>
            <a:r>
              <a:rPr lang="en-US" sz="2400" b="1" dirty="0">
                <a:solidFill>
                  <a:schemeClr val="tx1"/>
                </a:solidFill>
                <a:latin typeface="Arial" pitchFamily="34" charset="0"/>
                <a:ea typeface="Arial" pitchFamily="34" charset="-122"/>
                <a:cs typeface="Arial" pitchFamily="34" charset="-120"/>
              </a:rPr>
              <a:t>July</a:t>
            </a:r>
            <a:endParaRPr lang="en-US" sz="2400" dirty="0"/>
          </a:p>
        </p:txBody>
      </p:sp>
      <p:sp>
        <p:nvSpPr>
          <p:cNvPr id="11" name="Event dot 3"/>
          <p:cNvSpPr/>
          <p:nvPr/>
        </p:nvSpPr>
        <p:spPr>
          <a:xfrm>
            <a:off x="2688336" y="3474720"/>
            <a:ext cx="292608" cy="292608"/>
          </a:xfrm>
          <a:prstGeom prst="ellipse">
            <a:avLst/>
          </a:prstGeom>
          <a:solidFill>
            <a:schemeClr val="tx1"/>
          </a:solidFill>
          <a:ln/>
        </p:spPr>
        <p:txBody>
          <a:bodyPr/>
          <a:lstStyle/>
          <a:p>
            <a:endParaRPr lang="fr-FR"/>
          </a:p>
        </p:txBody>
      </p:sp>
      <p:sp>
        <p:nvSpPr>
          <p:cNvPr id="12" name="Text 10"/>
          <p:cNvSpPr txBox="1"/>
          <p:nvPr/>
        </p:nvSpPr>
        <p:spPr>
          <a:xfrm>
            <a:off x="3291840" y="3346704"/>
            <a:ext cx="7772400" cy="548640"/>
          </a:xfrm>
          <a:prstGeom prst="rect">
            <a:avLst/>
          </a:prstGeom>
          <a:noFill/>
          <a:ln/>
        </p:spPr>
        <p:txBody>
          <a:bodyPr wrap="square" lIns="0" tIns="0" rIns="0" bIns="0" rtlCol="0" anchor="ctr"/>
          <a:lstStyle/>
          <a:p>
            <a:pPr marL="0" indent="0">
              <a:buNone/>
            </a:pPr>
            <a:r>
              <a:rPr lang="en-US" sz="2400" dirty="0">
                <a:solidFill>
                  <a:schemeClr val="tx1"/>
                </a:solidFill>
                <a:latin typeface="Calibri" pitchFamily="34" charset="0"/>
                <a:ea typeface="Calibri" pitchFamily="34" charset="-122"/>
                <a:cs typeface="Calibri" pitchFamily="34" charset="-120"/>
              </a:rPr>
              <a:t>Waymo: no driver in Las Vegas</a:t>
            </a:r>
            <a:endParaRPr lang="en-US" sz="2400" dirty="0"/>
          </a:p>
        </p:txBody>
      </p:sp>
      <p:sp>
        <p:nvSpPr>
          <p:cNvPr id="13" name="Text 11"/>
          <p:cNvSpPr txBox="1"/>
          <p:nvPr/>
        </p:nvSpPr>
        <p:spPr>
          <a:xfrm>
            <a:off x="640080" y="4242816"/>
            <a:ext cx="1920240" cy="548640"/>
          </a:xfrm>
          <a:prstGeom prst="rect">
            <a:avLst/>
          </a:prstGeom>
          <a:noFill/>
          <a:ln/>
        </p:spPr>
        <p:txBody>
          <a:bodyPr wrap="square" lIns="0" tIns="0" rIns="0" bIns="0" rtlCol="0" anchor="ctr"/>
          <a:lstStyle/>
          <a:p>
            <a:pPr marL="0" indent="0" algn="r">
              <a:buNone/>
            </a:pPr>
            <a:r>
              <a:rPr lang="en-US" sz="2400" b="1" dirty="0">
                <a:solidFill>
                  <a:schemeClr val="tx1"/>
                </a:solidFill>
                <a:latin typeface="Arial" pitchFamily="34" charset="0"/>
                <a:ea typeface="Arial" pitchFamily="34" charset="-122"/>
                <a:cs typeface="Arial" pitchFamily="34" charset="-120"/>
              </a:rPr>
              <a:t>September</a:t>
            </a:r>
            <a:endParaRPr lang="en-US" sz="2400" dirty="0"/>
          </a:p>
        </p:txBody>
      </p:sp>
      <p:sp>
        <p:nvSpPr>
          <p:cNvPr id="14" name="Event dot 4"/>
          <p:cNvSpPr/>
          <p:nvPr/>
        </p:nvSpPr>
        <p:spPr>
          <a:xfrm>
            <a:off x="2688336" y="4370832"/>
            <a:ext cx="292608" cy="292608"/>
          </a:xfrm>
          <a:prstGeom prst="ellipse">
            <a:avLst/>
          </a:prstGeom>
          <a:solidFill>
            <a:schemeClr val="tx1"/>
          </a:solidFill>
          <a:ln/>
        </p:spPr>
        <p:txBody>
          <a:bodyPr/>
          <a:lstStyle/>
          <a:p>
            <a:endParaRPr lang="fr-FR"/>
          </a:p>
        </p:txBody>
      </p:sp>
      <p:sp>
        <p:nvSpPr>
          <p:cNvPr id="15" name="Text 13"/>
          <p:cNvSpPr txBox="1"/>
          <p:nvPr/>
        </p:nvSpPr>
        <p:spPr>
          <a:xfrm>
            <a:off x="3291840" y="4242816"/>
            <a:ext cx="7772400" cy="548640"/>
          </a:xfrm>
          <a:prstGeom prst="rect">
            <a:avLst/>
          </a:prstGeom>
          <a:noFill/>
          <a:ln/>
        </p:spPr>
        <p:txBody>
          <a:bodyPr wrap="square" lIns="0" tIns="0" rIns="0" bIns="0" rtlCol="0" anchor="ctr"/>
          <a:lstStyle/>
          <a:p>
            <a:pPr marL="0" indent="0">
              <a:buNone/>
            </a:pPr>
            <a:r>
              <a:rPr lang="en-US" sz="2400" dirty="0">
                <a:solidFill>
                  <a:schemeClr val="tx1"/>
                </a:solidFill>
                <a:latin typeface="Calibri" pitchFamily="34" charset="0"/>
                <a:ea typeface="Calibri" pitchFamily="34" charset="-122"/>
                <a:cs typeface="Calibri" pitchFamily="34" charset="-120"/>
              </a:rPr>
              <a:t>Tesla launches the Cybercab in Austin</a:t>
            </a:r>
            <a:endParaRPr lang="en-US" sz="2400" dirty="0"/>
          </a:p>
        </p:txBody>
      </p:sp>
      <p:sp>
        <p:nvSpPr>
          <p:cNvPr id="16" name="Text 14"/>
          <p:cNvSpPr txBox="1"/>
          <p:nvPr/>
        </p:nvSpPr>
        <p:spPr>
          <a:xfrm>
            <a:off x="640080" y="5138928"/>
            <a:ext cx="1920240" cy="548640"/>
          </a:xfrm>
          <a:prstGeom prst="rect">
            <a:avLst/>
          </a:prstGeom>
          <a:noFill/>
          <a:ln/>
        </p:spPr>
        <p:txBody>
          <a:bodyPr wrap="square" lIns="0" tIns="0" rIns="0" bIns="0" rtlCol="0" anchor="ctr"/>
          <a:lstStyle/>
          <a:p>
            <a:pPr marL="0" indent="0" algn="r">
              <a:buNone/>
            </a:pPr>
            <a:r>
              <a:rPr lang="en-US" sz="2400" b="1" dirty="0">
                <a:solidFill>
                  <a:srgbClr val="FF0000"/>
                </a:solidFill>
                <a:latin typeface="Arial" pitchFamily="34" charset="0"/>
                <a:ea typeface="Arial" pitchFamily="34" charset="-122"/>
                <a:cs typeface="Arial" pitchFamily="34" charset="-120"/>
              </a:rPr>
              <a:t>October</a:t>
            </a:r>
            <a:endParaRPr lang="en-US" sz="2400" dirty="0">
              <a:solidFill>
                <a:srgbClr val="FF0000"/>
              </a:solidFill>
            </a:endParaRPr>
          </a:p>
        </p:txBody>
      </p:sp>
      <p:sp>
        <p:nvSpPr>
          <p:cNvPr id="17" name="Event dot 5"/>
          <p:cNvSpPr/>
          <p:nvPr/>
        </p:nvSpPr>
        <p:spPr>
          <a:xfrm>
            <a:off x="2688336" y="5266944"/>
            <a:ext cx="292608" cy="292608"/>
          </a:xfrm>
          <a:prstGeom prst="ellipse">
            <a:avLst/>
          </a:prstGeom>
          <a:solidFill>
            <a:srgbClr val="00B050"/>
          </a:solidFill>
          <a:ln/>
        </p:spPr>
        <p:txBody>
          <a:bodyPr/>
          <a:lstStyle/>
          <a:p>
            <a:endParaRPr lang="fr-FR" dirty="0">
              <a:solidFill>
                <a:srgbClr val="00B050"/>
              </a:solidFill>
              <a:highlight>
                <a:srgbClr val="008000"/>
              </a:highlight>
            </a:endParaRPr>
          </a:p>
        </p:txBody>
      </p:sp>
      <p:sp>
        <p:nvSpPr>
          <p:cNvPr id="18" name="Text 16"/>
          <p:cNvSpPr txBox="1"/>
          <p:nvPr/>
        </p:nvSpPr>
        <p:spPr>
          <a:xfrm>
            <a:off x="3291840" y="5138928"/>
            <a:ext cx="7772400" cy="548640"/>
          </a:xfrm>
          <a:prstGeom prst="rect">
            <a:avLst/>
          </a:prstGeom>
          <a:noFill/>
          <a:ln/>
        </p:spPr>
        <p:txBody>
          <a:bodyPr wrap="square" lIns="0" tIns="0" rIns="0" bIns="0" rtlCol="0" anchor="ctr"/>
          <a:lstStyle/>
          <a:p>
            <a:pPr marL="0" indent="0">
              <a:buNone/>
            </a:pPr>
            <a:r>
              <a:rPr lang="en-US" sz="2400" dirty="0">
                <a:solidFill>
                  <a:schemeClr val="tx1"/>
                </a:solidFill>
                <a:latin typeface="Calibri" pitchFamily="34" charset="0"/>
                <a:ea typeface="Calibri" pitchFamily="34" charset="-122"/>
                <a:cs typeface="Calibri" pitchFamily="34" charset="-120"/>
              </a:rPr>
              <a:t>Waymo: no driver in Detroit</a:t>
            </a:r>
            <a:endParaRPr lang="en-US" sz="2400" dirty="0"/>
          </a:p>
        </p:txBody>
      </p:sp>
      <p:sp>
        <p:nvSpPr>
          <p:cNvPr id="19" name="Tag"/>
          <p:cNvSpPr/>
          <p:nvPr/>
        </p:nvSpPr>
        <p:spPr>
          <a:xfrm>
            <a:off x="9418320" y="5202936"/>
            <a:ext cx="2194560" cy="411480"/>
          </a:xfrm>
          <a:prstGeom prst="roundRect">
            <a:avLst>
              <a:gd name="adj" fmla="val 22222"/>
            </a:avLst>
          </a:prstGeom>
          <a:solidFill>
            <a:schemeClr val="accent1"/>
          </a:solidFill>
          <a:ln/>
        </p:spPr>
        <p:txBody>
          <a:bodyPr/>
          <a:lstStyle/>
          <a:p>
            <a:endParaRPr lang="fr-FR"/>
          </a:p>
        </p:txBody>
      </p:sp>
      <p:sp>
        <p:nvSpPr>
          <p:cNvPr id="20" name="Text 18"/>
          <p:cNvSpPr txBox="1"/>
          <p:nvPr/>
        </p:nvSpPr>
        <p:spPr>
          <a:xfrm>
            <a:off x="9418320" y="5202936"/>
            <a:ext cx="2194560" cy="411480"/>
          </a:xfrm>
          <a:prstGeom prst="rect">
            <a:avLst/>
          </a:prstGeom>
          <a:solidFill>
            <a:srgbClr val="FF0000"/>
          </a:solidFill>
          <a:ln/>
        </p:spPr>
        <p:txBody>
          <a:bodyPr wrap="square" lIns="0" tIns="0" rIns="0" bIns="0" rtlCol="0" anchor="ctr"/>
          <a:lstStyle/>
          <a:p>
            <a:pPr marL="0" indent="0" algn="ctr">
              <a:buNone/>
            </a:pPr>
            <a:r>
              <a:rPr lang="en-US" sz="1500" b="1" dirty="0">
                <a:solidFill>
                  <a:schemeClr val="bg1"/>
                </a:solidFill>
                <a:latin typeface="Arial" pitchFamily="34" charset="0"/>
                <a:ea typeface="Arial" pitchFamily="34" charset="-122"/>
                <a:cs typeface="Arial" pitchFamily="34" charset="-120"/>
              </a:rPr>
              <a:t>LAST WEEK</a:t>
            </a:r>
            <a:endParaRPr lang="en-US" sz="15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Waymo photo" descr="preencoded.png"/>
          <p:cNvPicPr>
            <a:picLocks noChangeAspect="1"/>
          </p:cNvPicPr>
          <p:nvPr/>
        </p:nvPicPr>
        <p:blipFill>
          <a:blip r:embed="rId3"/>
          <a:stretch>
            <a:fillRect/>
          </a:stretch>
        </p:blipFill>
        <p:spPr>
          <a:xfrm>
            <a:off x="6339535" y="0"/>
            <a:ext cx="5852160" cy="6858000"/>
          </a:xfrm>
          <a:prstGeom prst="rect">
            <a:avLst/>
          </a:prstGeom>
        </p:spPr>
      </p:pic>
      <p:sp>
        <p:nvSpPr>
          <p:cNvPr id="3" name="Text 0"/>
          <p:cNvSpPr>
            <a:spLocks noGrp="1"/>
          </p:cNvSpPr>
          <p:nvPr>
            <p:ph type="title" idx="100" hasCustomPrompt="1"/>
          </p:nvPr>
        </p:nvSpPr>
        <p:spPr>
          <a:xfrm>
            <a:off x="640080" y="548640"/>
            <a:ext cx="5212080" cy="1280160"/>
          </a:xfrm>
          <a:prstGeom prst="rect">
            <a:avLst/>
          </a:prstGeom>
          <a:noFill/>
          <a:ln/>
        </p:spPr>
        <p:txBody>
          <a:bodyPr wrap="square" lIns="0" tIns="0" rIns="0" bIns="0" rtlCol="0" anchor="t"/>
          <a:lstStyle/>
          <a:p>
            <a:pPr marL="0" indent="0" algn="l">
              <a:buNone/>
            </a:pPr>
            <a:r>
              <a:rPr lang="en-US" sz="3800" b="1" dirty="0">
                <a:solidFill>
                  <a:schemeClr val="tx1"/>
                </a:solidFill>
              </a:rPr>
              <a:t>Waymo, the Leader</a:t>
            </a:r>
            <a:endParaRPr lang="en-US" sz="3800" dirty="0"/>
          </a:p>
        </p:txBody>
      </p:sp>
      <p:sp>
        <p:nvSpPr>
          <p:cNvPr id="4" name="Text 1"/>
          <p:cNvSpPr txBox="1"/>
          <p:nvPr/>
        </p:nvSpPr>
        <p:spPr>
          <a:xfrm>
            <a:off x="640080" y="1783080"/>
            <a:ext cx="5212080" cy="914400"/>
          </a:xfrm>
          <a:prstGeom prst="rect">
            <a:avLst/>
          </a:prstGeom>
          <a:noFill/>
          <a:ln/>
        </p:spPr>
        <p:txBody>
          <a:bodyPr wrap="square" lIns="0" tIns="0" rIns="0" bIns="0" rtlCol="0" anchor="ctr"/>
          <a:lstStyle/>
          <a:p>
            <a:pPr marL="0" indent="0">
              <a:buNone/>
            </a:pPr>
            <a:r>
              <a:rPr lang="en-US" sz="6400" b="1" dirty="0">
                <a:solidFill>
                  <a:srgbClr val="00B0F0"/>
                </a:solidFill>
                <a:latin typeface="Arial" pitchFamily="34" charset="0"/>
                <a:ea typeface="Arial" pitchFamily="34" charset="-122"/>
                <a:cs typeface="Arial" pitchFamily="34" charset="-120"/>
              </a:rPr>
              <a:t>500,000</a:t>
            </a:r>
            <a:endParaRPr lang="en-US" sz="6400" dirty="0">
              <a:solidFill>
                <a:srgbClr val="00B0F0"/>
              </a:solidFill>
            </a:endParaRPr>
          </a:p>
        </p:txBody>
      </p:sp>
      <p:sp>
        <p:nvSpPr>
          <p:cNvPr id="5" name="Text 2"/>
          <p:cNvSpPr txBox="1"/>
          <p:nvPr/>
        </p:nvSpPr>
        <p:spPr>
          <a:xfrm>
            <a:off x="640080" y="2697480"/>
            <a:ext cx="5212080" cy="731520"/>
          </a:xfrm>
          <a:prstGeom prst="rect">
            <a:avLst/>
          </a:prstGeom>
          <a:noFill/>
          <a:ln/>
        </p:spPr>
        <p:txBody>
          <a:bodyPr wrap="square" lIns="0" tIns="0" rIns="0" bIns="0" rtlCol="0" anchor="t"/>
          <a:lstStyle/>
          <a:p>
            <a:pPr marL="0" indent="0">
              <a:buNone/>
            </a:pPr>
            <a:r>
              <a:rPr lang="en-US" sz="2000" dirty="0">
                <a:solidFill>
                  <a:schemeClr val="tx1"/>
                </a:solidFill>
                <a:latin typeface="Calibri" pitchFamily="34" charset="0"/>
                <a:ea typeface="Calibri" pitchFamily="34" charset="-122"/>
                <a:cs typeface="Calibri" pitchFamily="34" charset="-120"/>
              </a:rPr>
              <a:t>rides every week, with nobody at the wheel</a:t>
            </a:r>
            <a:endParaRPr lang="en-US" sz="2000" dirty="0"/>
          </a:p>
        </p:txBody>
      </p:sp>
      <p:sp>
        <p:nvSpPr>
          <p:cNvPr id="6" name="Dot 1"/>
          <p:cNvSpPr/>
          <p:nvPr/>
        </p:nvSpPr>
        <p:spPr>
          <a:xfrm>
            <a:off x="640080" y="3794760"/>
            <a:ext cx="201168" cy="201168"/>
          </a:xfrm>
          <a:prstGeom prst="ellipse">
            <a:avLst/>
          </a:prstGeom>
          <a:solidFill>
            <a:srgbClr val="00B0F0"/>
          </a:solidFill>
          <a:ln/>
        </p:spPr>
        <p:txBody>
          <a:bodyPr/>
          <a:lstStyle/>
          <a:p>
            <a:endParaRPr lang="fr-FR" dirty="0">
              <a:solidFill>
                <a:srgbClr val="111111"/>
              </a:solidFill>
              <a:highlight>
                <a:srgbClr val="008000"/>
              </a:highlight>
            </a:endParaRPr>
          </a:p>
        </p:txBody>
      </p:sp>
      <p:sp>
        <p:nvSpPr>
          <p:cNvPr id="7" name="Text 4"/>
          <p:cNvSpPr txBox="1"/>
          <p:nvPr/>
        </p:nvSpPr>
        <p:spPr>
          <a:xfrm>
            <a:off x="1051560" y="3611880"/>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10+ American cities</a:t>
            </a:r>
            <a:endParaRPr lang="en-US" sz="2000" dirty="0"/>
          </a:p>
        </p:txBody>
      </p:sp>
      <p:sp>
        <p:nvSpPr>
          <p:cNvPr id="8" name="Dot 2"/>
          <p:cNvSpPr/>
          <p:nvPr/>
        </p:nvSpPr>
        <p:spPr>
          <a:xfrm>
            <a:off x="640080" y="4453128"/>
            <a:ext cx="201168" cy="201168"/>
          </a:xfrm>
          <a:prstGeom prst="ellipse">
            <a:avLst/>
          </a:prstGeom>
          <a:solidFill>
            <a:srgbClr val="00B0F0"/>
          </a:solidFill>
          <a:ln/>
        </p:spPr>
        <p:txBody>
          <a:bodyPr/>
          <a:lstStyle/>
          <a:p>
            <a:endParaRPr lang="fr-FR"/>
          </a:p>
        </p:txBody>
      </p:sp>
      <p:sp>
        <p:nvSpPr>
          <p:cNvPr id="9" name="Text 6"/>
          <p:cNvSpPr txBox="1"/>
          <p:nvPr/>
        </p:nvSpPr>
        <p:spPr>
          <a:xfrm>
            <a:off x="1051560" y="4270248"/>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Oct. 6: no driver in Detroit</a:t>
            </a:r>
            <a:endParaRPr lang="en-US" sz="2000" dirty="0"/>
          </a:p>
        </p:txBody>
      </p:sp>
      <p:sp>
        <p:nvSpPr>
          <p:cNvPr id="10" name="Dot 3"/>
          <p:cNvSpPr/>
          <p:nvPr/>
        </p:nvSpPr>
        <p:spPr>
          <a:xfrm>
            <a:off x="640080" y="5111496"/>
            <a:ext cx="201168" cy="201168"/>
          </a:xfrm>
          <a:prstGeom prst="ellipse">
            <a:avLst/>
          </a:prstGeom>
          <a:solidFill>
            <a:srgbClr val="00B0F0"/>
          </a:solidFill>
          <a:ln/>
        </p:spPr>
        <p:txBody>
          <a:bodyPr/>
          <a:lstStyle/>
          <a:p>
            <a:endParaRPr lang="fr-FR"/>
          </a:p>
        </p:txBody>
      </p:sp>
      <p:sp>
        <p:nvSpPr>
          <p:cNvPr id="11" name="Text 8"/>
          <p:cNvSpPr txBox="1"/>
          <p:nvPr/>
        </p:nvSpPr>
        <p:spPr>
          <a:xfrm>
            <a:off x="1051560" y="4928616"/>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Oct.: $5 billion to grow</a:t>
            </a:r>
            <a:endParaRPr lang="en-US" sz="2000" dirty="0"/>
          </a:p>
        </p:txBody>
      </p:sp>
      <p:sp>
        <p:nvSpPr>
          <p:cNvPr id="12" name="Dot 4"/>
          <p:cNvSpPr/>
          <p:nvPr/>
        </p:nvSpPr>
        <p:spPr>
          <a:xfrm>
            <a:off x="640080" y="5769864"/>
            <a:ext cx="201168" cy="201168"/>
          </a:xfrm>
          <a:prstGeom prst="ellipse">
            <a:avLst/>
          </a:prstGeom>
          <a:solidFill>
            <a:srgbClr val="00B0F0"/>
          </a:solidFill>
          <a:ln/>
        </p:spPr>
        <p:txBody>
          <a:bodyPr/>
          <a:lstStyle/>
          <a:p>
            <a:endParaRPr lang="fr-FR"/>
          </a:p>
        </p:txBody>
      </p:sp>
      <p:sp>
        <p:nvSpPr>
          <p:cNvPr id="13" name="Text 10"/>
          <p:cNvSpPr txBox="1"/>
          <p:nvPr/>
        </p:nvSpPr>
        <p:spPr>
          <a:xfrm>
            <a:off x="1051560" y="5586984"/>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Next: London, then Tokyo</a:t>
            </a:r>
            <a:endParaRPr lang="en-US" sz="20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Cybercab photo" descr="preencoded.png"/>
          <p:cNvPicPr>
            <a:picLocks noChangeAspect="1"/>
          </p:cNvPicPr>
          <p:nvPr/>
        </p:nvPicPr>
        <p:blipFill>
          <a:blip r:embed="rId3"/>
          <a:stretch>
            <a:fillRect/>
          </a:stretch>
        </p:blipFill>
        <p:spPr>
          <a:xfrm>
            <a:off x="6339535" y="0"/>
            <a:ext cx="5852160" cy="6858000"/>
          </a:xfrm>
          <a:prstGeom prst="rect">
            <a:avLst/>
          </a:prstGeom>
        </p:spPr>
      </p:pic>
      <p:sp>
        <p:nvSpPr>
          <p:cNvPr id="3" name="Text 0"/>
          <p:cNvSpPr>
            <a:spLocks noGrp="1"/>
          </p:cNvSpPr>
          <p:nvPr>
            <p:ph type="title" idx="100" hasCustomPrompt="1"/>
          </p:nvPr>
        </p:nvSpPr>
        <p:spPr>
          <a:xfrm>
            <a:off x="640080" y="548640"/>
            <a:ext cx="5212080" cy="1280160"/>
          </a:xfrm>
          <a:prstGeom prst="rect">
            <a:avLst/>
          </a:prstGeom>
          <a:noFill/>
          <a:ln/>
        </p:spPr>
        <p:txBody>
          <a:bodyPr wrap="square" lIns="0" tIns="0" rIns="0" bIns="0" rtlCol="0" anchor="t"/>
          <a:lstStyle/>
          <a:p>
            <a:pPr marL="0" indent="0" algn="l">
              <a:buNone/>
            </a:pPr>
            <a:r>
              <a:rPr lang="en-US" sz="3800" b="1" dirty="0">
                <a:solidFill>
                  <a:schemeClr val="tx1"/>
                </a:solidFill>
              </a:rPr>
              <a:t>Tesla and the Cybercab</a:t>
            </a:r>
            <a:endParaRPr lang="en-US" sz="3800" dirty="0"/>
          </a:p>
        </p:txBody>
      </p:sp>
      <p:sp>
        <p:nvSpPr>
          <p:cNvPr id="4" name="Tag"/>
          <p:cNvSpPr/>
          <p:nvPr/>
        </p:nvSpPr>
        <p:spPr>
          <a:xfrm>
            <a:off x="640080" y="1920240"/>
            <a:ext cx="2194560" cy="411480"/>
          </a:xfrm>
          <a:prstGeom prst="roundRect">
            <a:avLst>
              <a:gd name="adj" fmla="val 22222"/>
            </a:avLst>
          </a:prstGeom>
          <a:solidFill>
            <a:schemeClr val="accent1"/>
          </a:solidFill>
          <a:ln/>
        </p:spPr>
        <p:txBody>
          <a:bodyPr/>
          <a:lstStyle/>
          <a:p>
            <a:endParaRPr lang="fr-FR"/>
          </a:p>
        </p:txBody>
      </p:sp>
      <p:sp>
        <p:nvSpPr>
          <p:cNvPr id="5" name="Text 2"/>
          <p:cNvSpPr txBox="1"/>
          <p:nvPr/>
        </p:nvSpPr>
        <p:spPr>
          <a:xfrm>
            <a:off x="640080" y="1920240"/>
            <a:ext cx="2194560" cy="411480"/>
          </a:xfrm>
          <a:prstGeom prst="rect">
            <a:avLst/>
          </a:prstGeom>
          <a:solidFill>
            <a:schemeClr val="accent2"/>
          </a:solidFill>
          <a:ln/>
        </p:spPr>
        <p:txBody>
          <a:bodyPr wrap="square" lIns="0" tIns="0" rIns="0" bIns="0" rtlCol="0" anchor="ctr"/>
          <a:lstStyle/>
          <a:p>
            <a:pPr marL="0" indent="0" algn="ctr">
              <a:buNone/>
            </a:pPr>
            <a:r>
              <a:rPr lang="en-US" sz="1500" b="1" dirty="0">
                <a:solidFill>
                  <a:schemeClr val="bg1"/>
                </a:solidFill>
                <a:latin typeface="Arial" pitchFamily="34" charset="0"/>
                <a:ea typeface="Arial" pitchFamily="34" charset="-122"/>
                <a:cs typeface="Arial" pitchFamily="34" charset="-120"/>
              </a:rPr>
              <a:t>SEPT. 3, 2026</a:t>
            </a:r>
            <a:endParaRPr lang="en-US" sz="1500" dirty="0"/>
          </a:p>
        </p:txBody>
      </p:sp>
      <p:sp>
        <p:nvSpPr>
          <p:cNvPr id="6" name="Text 3"/>
          <p:cNvSpPr txBox="1"/>
          <p:nvPr/>
        </p:nvSpPr>
        <p:spPr>
          <a:xfrm>
            <a:off x="640080" y="2468880"/>
            <a:ext cx="5212080" cy="548640"/>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Cybercab launched in Austin</a:t>
            </a:r>
            <a:endParaRPr lang="en-US" sz="2600" dirty="0"/>
          </a:p>
        </p:txBody>
      </p:sp>
      <p:sp>
        <p:nvSpPr>
          <p:cNvPr id="7" name="Dot 1"/>
          <p:cNvSpPr/>
          <p:nvPr/>
        </p:nvSpPr>
        <p:spPr>
          <a:xfrm>
            <a:off x="640080" y="3429000"/>
            <a:ext cx="201168" cy="201168"/>
          </a:xfrm>
          <a:prstGeom prst="ellipse">
            <a:avLst/>
          </a:prstGeom>
          <a:solidFill>
            <a:schemeClr val="accent2"/>
          </a:solidFill>
          <a:ln/>
        </p:spPr>
        <p:txBody>
          <a:bodyPr/>
          <a:lstStyle/>
          <a:p>
            <a:endParaRPr lang="fr-FR"/>
          </a:p>
        </p:txBody>
      </p:sp>
      <p:sp>
        <p:nvSpPr>
          <p:cNvPr id="8" name="Text 5"/>
          <p:cNvSpPr txBox="1"/>
          <p:nvPr/>
        </p:nvSpPr>
        <p:spPr>
          <a:xfrm>
            <a:off x="1051560" y="3246120"/>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No steering wheel, no pedals</a:t>
            </a:r>
            <a:endParaRPr lang="en-US" sz="2000" dirty="0"/>
          </a:p>
        </p:txBody>
      </p:sp>
      <p:sp>
        <p:nvSpPr>
          <p:cNvPr id="9" name="Dot 2"/>
          <p:cNvSpPr/>
          <p:nvPr/>
        </p:nvSpPr>
        <p:spPr>
          <a:xfrm>
            <a:off x="640080" y="4142232"/>
            <a:ext cx="201168" cy="201168"/>
          </a:xfrm>
          <a:prstGeom prst="ellipse">
            <a:avLst/>
          </a:prstGeom>
          <a:solidFill>
            <a:schemeClr val="accent2"/>
          </a:solidFill>
          <a:ln/>
        </p:spPr>
        <p:txBody>
          <a:bodyPr/>
          <a:lstStyle/>
          <a:p>
            <a:endParaRPr lang="fr-FR"/>
          </a:p>
        </p:txBody>
      </p:sp>
      <p:sp>
        <p:nvSpPr>
          <p:cNvPr id="10" name="Text 7"/>
          <p:cNvSpPr txBox="1"/>
          <p:nvPr/>
        </p:nvSpPr>
        <p:spPr>
          <a:xfrm>
            <a:off x="1051560" y="3959352"/>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Robotaxis in Texas since 2025</a:t>
            </a:r>
            <a:endParaRPr lang="en-US" sz="2000" dirty="0"/>
          </a:p>
        </p:txBody>
      </p:sp>
      <p:sp>
        <p:nvSpPr>
          <p:cNvPr id="11" name="Dot 3"/>
          <p:cNvSpPr/>
          <p:nvPr/>
        </p:nvSpPr>
        <p:spPr>
          <a:xfrm>
            <a:off x="640080" y="4855464"/>
            <a:ext cx="201168" cy="201168"/>
          </a:xfrm>
          <a:prstGeom prst="ellipse">
            <a:avLst/>
          </a:prstGeom>
          <a:solidFill>
            <a:schemeClr val="accent2"/>
          </a:solidFill>
          <a:ln/>
        </p:spPr>
        <p:txBody>
          <a:bodyPr/>
          <a:lstStyle/>
          <a:p>
            <a:endParaRPr lang="fr-FR"/>
          </a:p>
        </p:txBody>
      </p:sp>
      <p:sp>
        <p:nvSpPr>
          <p:cNvPr id="12" name="Text 9"/>
          <p:cNvSpPr txBox="1"/>
          <p:nvPr/>
        </p:nvSpPr>
        <p:spPr>
          <a:xfrm>
            <a:off x="1051560" y="4672584"/>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April: FSD approved in the Netherlands</a:t>
            </a:r>
            <a:endParaRPr lang="en-US" sz="2000" dirty="0"/>
          </a:p>
        </p:txBody>
      </p:sp>
      <p:sp>
        <p:nvSpPr>
          <p:cNvPr id="13" name="Dot 4"/>
          <p:cNvSpPr/>
          <p:nvPr/>
        </p:nvSpPr>
        <p:spPr>
          <a:xfrm>
            <a:off x="640080" y="5568696"/>
            <a:ext cx="201168" cy="201168"/>
          </a:xfrm>
          <a:prstGeom prst="ellipse">
            <a:avLst/>
          </a:prstGeom>
          <a:solidFill>
            <a:schemeClr val="accent2"/>
          </a:solidFill>
          <a:ln/>
        </p:spPr>
        <p:txBody>
          <a:bodyPr/>
          <a:lstStyle/>
          <a:p>
            <a:endParaRPr lang="fr-FR"/>
          </a:p>
        </p:txBody>
      </p:sp>
      <p:sp>
        <p:nvSpPr>
          <p:cNvPr id="14" name="Text 11"/>
          <p:cNvSpPr txBox="1"/>
          <p:nvPr/>
        </p:nvSpPr>
        <p:spPr>
          <a:xfrm>
            <a:off x="1051560" y="5385816"/>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Only cameras, no lidar</a:t>
            </a:r>
            <a:endParaRPr lang="en-US" sz="20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Robotaxi Abu Dhabi photo" descr="preencoded.png"/>
          <p:cNvPicPr>
            <a:picLocks noChangeAspect="1"/>
          </p:cNvPicPr>
          <p:nvPr/>
        </p:nvPicPr>
        <p:blipFill>
          <a:blip r:embed="rId3"/>
          <a:stretch>
            <a:fillRect/>
          </a:stretch>
        </p:blipFill>
        <p:spPr>
          <a:xfrm>
            <a:off x="6339535" y="0"/>
            <a:ext cx="5852160" cy="6858000"/>
          </a:xfrm>
          <a:prstGeom prst="rect">
            <a:avLst/>
          </a:prstGeom>
        </p:spPr>
      </p:pic>
      <p:sp>
        <p:nvSpPr>
          <p:cNvPr id="3" name="Text 0"/>
          <p:cNvSpPr>
            <a:spLocks noGrp="1"/>
          </p:cNvSpPr>
          <p:nvPr>
            <p:ph type="title" idx="100" hasCustomPrompt="1"/>
          </p:nvPr>
        </p:nvSpPr>
        <p:spPr>
          <a:xfrm>
            <a:off x="640080" y="548640"/>
            <a:ext cx="5212080" cy="1280160"/>
          </a:xfrm>
          <a:prstGeom prst="rect">
            <a:avLst/>
          </a:prstGeom>
          <a:noFill/>
          <a:ln/>
        </p:spPr>
        <p:txBody>
          <a:bodyPr wrap="square" lIns="0" tIns="0" rIns="0" bIns="0" rtlCol="0" anchor="t"/>
          <a:lstStyle/>
          <a:p>
            <a:pPr marL="0" indent="0" algn="l">
              <a:buNone/>
            </a:pPr>
            <a:r>
              <a:rPr lang="en-US" sz="3800" b="1" dirty="0">
                <a:solidFill>
                  <a:schemeClr val="tx1"/>
                </a:solidFill>
              </a:rPr>
              <a:t>China and the Middle East</a:t>
            </a:r>
            <a:endParaRPr lang="en-US" sz="3800" dirty="0"/>
          </a:p>
        </p:txBody>
      </p:sp>
      <p:sp>
        <p:nvSpPr>
          <p:cNvPr id="4" name="Text 1"/>
          <p:cNvSpPr txBox="1"/>
          <p:nvPr/>
        </p:nvSpPr>
        <p:spPr>
          <a:xfrm>
            <a:off x="640080" y="2011680"/>
            <a:ext cx="5212080" cy="914400"/>
          </a:xfrm>
          <a:prstGeom prst="rect">
            <a:avLst/>
          </a:prstGeom>
          <a:noFill/>
          <a:ln/>
        </p:spPr>
        <p:txBody>
          <a:bodyPr wrap="square" lIns="0" tIns="0" rIns="0" bIns="0" rtlCol="0" anchor="ctr"/>
          <a:lstStyle/>
          <a:p>
            <a:pPr marL="0" indent="0">
              <a:buNone/>
            </a:pPr>
            <a:r>
              <a:rPr lang="en-US" sz="6400" b="1" dirty="0">
                <a:solidFill>
                  <a:schemeClr val="tx2">
                    <a:lumMod val="50000"/>
                  </a:schemeClr>
                </a:solidFill>
                <a:latin typeface="Arial" pitchFamily="34" charset="0"/>
                <a:ea typeface="Arial" pitchFamily="34" charset="-122"/>
                <a:cs typeface="Arial" pitchFamily="34" charset="-120"/>
              </a:rPr>
              <a:t>20</a:t>
            </a:r>
            <a:endParaRPr lang="en-US" sz="6400" dirty="0">
              <a:solidFill>
                <a:schemeClr val="tx2">
                  <a:lumMod val="50000"/>
                </a:schemeClr>
              </a:solidFill>
            </a:endParaRPr>
          </a:p>
        </p:txBody>
      </p:sp>
      <p:sp>
        <p:nvSpPr>
          <p:cNvPr id="5" name="Text 2"/>
          <p:cNvSpPr txBox="1"/>
          <p:nvPr/>
        </p:nvSpPr>
        <p:spPr>
          <a:xfrm>
            <a:off x="640080" y="2926080"/>
            <a:ext cx="5212080" cy="45720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Chinese cities with Baidu robotaxis</a:t>
            </a:r>
            <a:endParaRPr lang="en-US" sz="2000" dirty="0"/>
          </a:p>
        </p:txBody>
      </p:sp>
      <p:sp>
        <p:nvSpPr>
          <p:cNvPr id="6" name="Dot 1"/>
          <p:cNvSpPr/>
          <p:nvPr/>
        </p:nvSpPr>
        <p:spPr>
          <a:xfrm>
            <a:off x="640080" y="4023360"/>
            <a:ext cx="201168" cy="201168"/>
          </a:xfrm>
          <a:prstGeom prst="ellipse">
            <a:avLst/>
          </a:prstGeom>
          <a:solidFill>
            <a:schemeClr val="bg1">
              <a:lumMod val="50000"/>
            </a:schemeClr>
          </a:solidFill>
          <a:ln/>
        </p:spPr>
        <p:txBody>
          <a:bodyPr/>
          <a:lstStyle/>
          <a:p>
            <a:endParaRPr lang="fr-FR"/>
          </a:p>
        </p:txBody>
      </p:sp>
      <p:sp>
        <p:nvSpPr>
          <p:cNvPr id="7" name="Text 4"/>
          <p:cNvSpPr txBox="1"/>
          <p:nvPr/>
        </p:nvSpPr>
        <p:spPr>
          <a:xfrm>
            <a:off x="1051560" y="3840480"/>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Taxis with no driver in Dubai and Abu Dhabi</a:t>
            </a:r>
            <a:endParaRPr lang="en-US" sz="2000" dirty="0"/>
          </a:p>
        </p:txBody>
      </p:sp>
      <p:sp>
        <p:nvSpPr>
          <p:cNvPr id="8" name="Dot 2"/>
          <p:cNvSpPr/>
          <p:nvPr/>
        </p:nvSpPr>
        <p:spPr>
          <a:xfrm>
            <a:off x="640080" y="4800600"/>
            <a:ext cx="201168" cy="201168"/>
          </a:xfrm>
          <a:prstGeom prst="ellipse">
            <a:avLst/>
          </a:prstGeom>
          <a:solidFill>
            <a:schemeClr val="bg1">
              <a:lumMod val="50000"/>
            </a:schemeClr>
          </a:solidFill>
          <a:ln/>
        </p:spPr>
        <p:txBody>
          <a:bodyPr/>
          <a:lstStyle/>
          <a:p>
            <a:endParaRPr lang="fr-FR"/>
          </a:p>
        </p:txBody>
      </p:sp>
      <p:sp>
        <p:nvSpPr>
          <p:cNvPr id="9" name="Text 6"/>
          <p:cNvSpPr txBox="1"/>
          <p:nvPr/>
        </p:nvSpPr>
        <p:spPr>
          <a:xfrm>
            <a:off x="1051560" y="4617720"/>
            <a:ext cx="4800600" cy="5943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Photo: a robotaxi in Abu Dhabi</a:t>
            </a:r>
            <a:endParaRPr lang="en-US" sz="20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lIns="0" tIns="0" rIns="0" bIns="0" rtlCol="0" anchor="t"/>
          <a:lstStyle/>
          <a:p>
            <a:pPr marL="0" indent="0" algn="l">
              <a:buNone/>
            </a:pPr>
            <a:r>
              <a:rPr lang="en-US" sz="3800" b="1" dirty="0">
                <a:solidFill>
                  <a:schemeClr val="tx1"/>
                </a:solidFill>
              </a:rPr>
              <a:t>And in Europe?</a:t>
            </a:r>
            <a:endParaRPr lang="en-US" sz="3800" dirty="0"/>
          </a:p>
        </p:txBody>
      </p:sp>
      <p:sp>
        <p:nvSpPr>
          <p:cNvPr id="3" name="Text 1"/>
          <p:cNvSpPr txBox="1"/>
          <p:nvPr/>
        </p:nvSpPr>
        <p:spPr>
          <a:xfrm>
            <a:off x="640080" y="1417320"/>
            <a:ext cx="10881360" cy="548640"/>
          </a:xfrm>
          <a:prstGeom prst="rect">
            <a:avLst/>
          </a:prstGeom>
          <a:noFill/>
          <a:ln/>
        </p:spPr>
        <p:txBody>
          <a:bodyPr wrap="square" lIns="0" tIns="0" rIns="0" bIns="0" rtlCol="0" anchor="ctr"/>
          <a:lstStyle/>
          <a:p>
            <a:pPr marL="0" indent="0">
              <a:buNone/>
            </a:pPr>
            <a:r>
              <a:rPr lang="en-US" sz="2600" b="1" dirty="0">
                <a:solidFill>
                  <a:srgbClr val="00B0F0"/>
                </a:solidFill>
                <a:latin typeface="Arial" pitchFamily="34" charset="0"/>
                <a:ea typeface="Arial" pitchFamily="34" charset="-122"/>
                <a:cs typeface="Arial" pitchFamily="34" charset="-120"/>
              </a:rPr>
              <a:t>Europe is late, but it is starting</a:t>
            </a:r>
            <a:endParaRPr lang="en-US" sz="2600" dirty="0">
              <a:solidFill>
                <a:srgbClr val="00B0F0"/>
              </a:solidFill>
            </a:endParaRPr>
          </a:p>
        </p:txBody>
      </p:sp>
      <p:sp>
        <p:nvSpPr>
          <p:cNvPr id="4" name="Europe row 1"/>
          <p:cNvSpPr/>
          <p:nvPr/>
        </p:nvSpPr>
        <p:spPr>
          <a:xfrm>
            <a:off x="640080" y="2194560"/>
            <a:ext cx="10881360" cy="822960"/>
          </a:xfrm>
          <a:prstGeom prst="roundRect">
            <a:avLst>
              <a:gd name="adj" fmla="val 13333"/>
            </a:avLst>
          </a:prstGeom>
          <a:solidFill>
            <a:schemeClr val="bg2"/>
          </a:solidFill>
          <a:ln/>
        </p:spPr>
        <p:txBody>
          <a:bodyPr/>
          <a:lstStyle/>
          <a:p>
            <a:endParaRPr lang="fr-FR"/>
          </a:p>
        </p:txBody>
      </p:sp>
      <p:sp>
        <p:nvSpPr>
          <p:cNvPr id="5" name="Text 3"/>
          <p:cNvSpPr txBox="1"/>
          <p:nvPr/>
        </p:nvSpPr>
        <p:spPr>
          <a:xfrm>
            <a:off x="1005840" y="2194560"/>
            <a:ext cx="3108960" cy="82296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Croatia</a:t>
            </a:r>
            <a:endParaRPr lang="en-US" sz="2400" dirty="0"/>
          </a:p>
        </p:txBody>
      </p:sp>
      <p:sp>
        <p:nvSpPr>
          <p:cNvPr id="6" name="Text 4"/>
          <p:cNvSpPr txBox="1"/>
          <p:nvPr/>
        </p:nvSpPr>
        <p:spPr>
          <a:xfrm>
            <a:off x="4114800" y="2194560"/>
            <a:ext cx="7223760" cy="822960"/>
          </a:xfrm>
          <a:prstGeom prst="rect">
            <a:avLst/>
          </a:prstGeom>
          <a:noFill/>
          <a:ln/>
        </p:spPr>
        <p:txBody>
          <a:bodyPr wrap="square" lIns="0" tIns="0" rIns="0" bIns="0" rtlCol="0" anchor="ctr"/>
          <a:lstStyle/>
          <a:p>
            <a:pPr marL="0" indent="0">
              <a:buNone/>
            </a:pPr>
            <a:r>
              <a:rPr lang="en-US" sz="2200" dirty="0">
                <a:solidFill>
                  <a:schemeClr val="tx2"/>
                </a:solidFill>
                <a:latin typeface="Calibri" pitchFamily="34" charset="0"/>
                <a:ea typeface="Calibri" pitchFamily="34" charset="-122"/>
                <a:cs typeface="Calibri" pitchFamily="34" charset="-120"/>
              </a:rPr>
              <a:t>First robotaxi service in Zagreb (April 2026)</a:t>
            </a:r>
            <a:endParaRPr lang="en-US" sz="2200" dirty="0"/>
          </a:p>
        </p:txBody>
      </p:sp>
      <p:sp>
        <p:nvSpPr>
          <p:cNvPr id="7" name="Europe row 2"/>
          <p:cNvSpPr/>
          <p:nvPr/>
        </p:nvSpPr>
        <p:spPr>
          <a:xfrm>
            <a:off x="640080" y="3182112"/>
            <a:ext cx="10881360" cy="822960"/>
          </a:xfrm>
          <a:prstGeom prst="roundRect">
            <a:avLst>
              <a:gd name="adj" fmla="val 13333"/>
            </a:avLst>
          </a:prstGeom>
          <a:solidFill>
            <a:schemeClr val="bg2"/>
          </a:solidFill>
          <a:ln/>
        </p:spPr>
        <p:txBody>
          <a:bodyPr/>
          <a:lstStyle/>
          <a:p>
            <a:endParaRPr lang="fr-FR"/>
          </a:p>
        </p:txBody>
      </p:sp>
      <p:sp>
        <p:nvSpPr>
          <p:cNvPr id="8" name="Text 6"/>
          <p:cNvSpPr txBox="1"/>
          <p:nvPr/>
        </p:nvSpPr>
        <p:spPr>
          <a:xfrm>
            <a:off x="1005840" y="3182112"/>
            <a:ext cx="3108960" cy="82296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Netherlands</a:t>
            </a:r>
            <a:endParaRPr lang="en-US" sz="2400" dirty="0"/>
          </a:p>
        </p:txBody>
      </p:sp>
      <p:sp>
        <p:nvSpPr>
          <p:cNvPr id="9" name="Text 7"/>
          <p:cNvSpPr txBox="1"/>
          <p:nvPr/>
        </p:nvSpPr>
        <p:spPr>
          <a:xfrm>
            <a:off x="4114800" y="3182112"/>
            <a:ext cx="7223760" cy="822960"/>
          </a:xfrm>
          <a:prstGeom prst="rect">
            <a:avLst/>
          </a:prstGeom>
          <a:noFill/>
          <a:ln/>
        </p:spPr>
        <p:txBody>
          <a:bodyPr wrap="square" lIns="0" tIns="0" rIns="0" bIns="0" rtlCol="0" anchor="ctr"/>
          <a:lstStyle/>
          <a:p>
            <a:pPr marL="0" indent="0">
              <a:buNone/>
            </a:pPr>
            <a:r>
              <a:rPr lang="en-US" sz="2200" dirty="0">
                <a:solidFill>
                  <a:schemeClr val="tx2"/>
                </a:solidFill>
                <a:latin typeface="Calibri" pitchFamily="34" charset="0"/>
                <a:ea typeface="Calibri" pitchFamily="34" charset="-122"/>
                <a:cs typeface="Calibri" pitchFamily="34" charset="-120"/>
              </a:rPr>
              <a:t>First country to approve Tesla FSD (level 2)</a:t>
            </a:r>
            <a:endParaRPr lang="en-US" sz="2200" dirty="0"/>
          </a:p>
        </p:txBody>
      </p:sp>
      <p:sp>
        <p:nvSpPr>
          <p:cNvPr id="10" name="Europe row 3"/>
          <p:cNvSpPr/>
          <p:nvPr/>
        </p:nvSpPr>
        <p:spPr>
          <a:xfrm>
            <a:off x="640080" y="4169664"/>
            <a:ext cx="10881360" cy="822960"/>
          </a:xfrm>
          <a:prstGeom prst="roundRect">
            <a:avLst>
              <a:gd name="adj" fmla="val 13333"/>
            </a:avLst>
          </a:prstGeom>
          <a:solidFill>
            <a:schemeClr val="bg2"/>
          </a:solidFill>
          <a:ln/>
        </p:spPr>
        <p:txBody>
          <a:bodyPr/>
          <a:lstStyle/>
          <a:p>
            <a:endParaRPr lang="fr-FR"/>
          </a:p>
        </p:txBody>
      </p:sp>
      <p:sp>
        <p:nvSpPr>
          <p:cNvPr id="11" name="Text 9"/>
          <p:cNvSpPr txBox="1"/>
          <p:nvPr/>
        </p:nvSpPr>
        <p:spPr>
          <a:xfrm>
            <a:off x="1005840" y="4169664"/>
            <a:ext cx="3108960" cy="82296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United Kingdom</a:t>
            </a:r>
            <a:endParaRPr lang="en-US" sz="2400" dirty="0"/>
          </a:p>
        </p:txBody>
      </p:sp>
      <p:sp>
        <p:nvSpPr>
          <p:cNvPr id="12" name="Text 10"/>
          <p:cNvSpPr txBox="1"/>
          <p:nvPr/>
        </p:nvSpPr>
        <p:spPr>
          <a:xfrm>
            <a:off x="4114800" y="4169664"/>
            <a:ext cx="7223760" cy="822960"/>
          </a:xfrm>
          <a:prstGeom prst="rect">
            <a:avLst/>
          </a:prstGeom>
          <a:noFill/>
          <a:ln/>
        </p:spPr>
        <p:txBody>
          <a:bodyPr wrap="square" lIns="0" tIns="0" rIns="0" bIns="0" rtlCol="0" anchor="ctr"/>
          <a:lstStyle/>
          <a:p>
            <a:pPr marL="0" indent="0">
              <a:buNone/>
            </a:pPr>
            <a:r>
              <a:rPr lang="en-US" sz="2200" dirty="0">
                <a:solidFill>
                  <a:schemeClr val="tx2"/>
                </a:solidFill>
                <a:latin typeface="Calibri" pitchFamily="34" charset="0"/>
                <a:ea typeface="Calibri" pitchFamily="34" charset="-122"/>
                <a:cs typeface="Calibri" pitchFamily="34" charset="-120"/>
              </a:rPr>
              <a:t>Robotaxi tests in London, with a safety driver</a:t>
            </a:r>
            <a:endParaRPr lang="en-US" sz="2200" dirty="0"/>
          </a:p>
        </p:txBody>
      </p:sp>
      <p:sp>
        <p:nvSpPr>
          <p:cNvPr id="13" name="Europe row 4"/>
          <p:cNvSpPr/>
          <p:nvPr/>
        </p:nvSpPr>
        <p:spPr>
          <a:xfrm>
            <a:off x="640080" y="5157216"/>
            <a:ext cx="10881360" cy="822960"/>
          </a:xfrm>
          <a:prstGeom prst="roundRect">
            <a:avLst>
              <a:gd name="adj" fmla="val 13333"/>
            </a:avLst>
          </a:prstGeom>
          <a:solidFill>
            <a:schemeClr val="bg2"/>
          </a:solidFill>
          <a:ln/>
        </p:spPr>
        <p:txBody>
          <a:bodyPr/>
          <a:lstStyle/>
          <a:p>
            <a:endParaRPr lang="fr-FR"/>
          </a:p>
        </p:txBody>
      </p:sp>
      <p:sp>
        <p:nvSpPr>
          <p:cNvPr id="14" name="Text 12"/>
          <p:cNvSpPr txBox="1"/>
          <p:nvPr/>
        </p:nvSpPr>
        <p:spPr>
          <a:xfrm>
            <a:off x="1005840" y="5157216"/>
            <a:ext cx="3108960" cy="82296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France</a:t>
            </a:r>
            <a:endParaRPr lang="en-US" sz="2400" dirty="0"/>
          </a:p>
        </p:txBody>
      </p:sp>
      <p:sp>
        <p:nvSpPr>
          <p:cNvPr id="15" name="Text 13"/>
          <p:cNvSpPr txBox="1"/>
          <p:nvPr/>
        </p:nvSpPr>
        <p:spPr>
          <a:xfrm>
            <a:off x="4114800" y="5157216"/>
            <a:ext cx="7223760" cy="822960"/>
          </a:xfrm>
          <a:prstGeom prst="rect">
            <a:avLst/>
          </a:prstGeom>
          <a:noFill/>
          <a:ln/>
        </p:spPr>
        <p:txBody>
          <a:bodyPr wrap="square" lIns="0" tIns="0" rIns="0" bIns="0" rtlCol="0" anchor="ctr"/>
          <a:lstStyle/>
          <a:p>
            <a:pPr marL="0" indent="0">
              <a:buNone/>
            </a:pPr>
            <a:r>
              <a:rPr lang="en-US" sz="2200" dirty="0">
                <a:solidFill>
                  <a:schemeClr val="tx2"/>
                </a:solidFill>
                <a:latin typeface="Calibri" pitchFamily="34" charset="0"/>
                <a:ea typeface="Calibri" pitchFamily="34" charset="-122"/>
                <a:cs typeface="Calibri" pitchFamily="34" charset="-120"/>
              </a:rPr>
              <a:t>Only tests for now</a:t>
            </a:r>
            <a:endParaRPr lang="en-US" sz="22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7</a:t>
            </a:fld>
            <a:endParaRPr lang="en-US"/>
          </a:p>
        </p:txBody>
      </p:sp>
      <p:pic>
        <p:nvPicPr>
          <p:cNvPr id="16" name="Image 15" descr="Images Europe logo : téléchargement gratuit sur Magnific ...">
            <a:extLst>
              <a:ext uri="{FF2B5EF4-FFF2-40B4-BE49-F238E27FC236}">
                <a16:creationId xmlns:a16="http://schemas.microsoft.com/office/drawing/2014/main" id="{44DD366A-3D49-8BF3-BC0C-5AAFBFE73B4A}"/>
              </a:ext>
            </a:extLst>
          </p:cNvPr>
          <p:cNvPicPr>
            <a:picLocks noChangeAspect="1"/>
          </p:cNvPicPr>
          <p:nvPr/>
        </p:nvPicPr>
        <p:blipFill>
          <a:blip r:embed="rId3"/>
          <a:stretch>
            <a:fillRect/>
          </a:stretch>
        </p:blipFill>
        <p:spPr>
          <a:xfrm>
            <a:off x="5543550" y="877824"/>
            <a:ext cx="1343025" cy="1343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10881360" cy="822960"/>
          </a:xfrm>
          <a:prstGeom prst="rect">
            <a:avLst/>
          </a:prstGeom>
          <a:noFill/>
          <a:ln/>
        </p:spPr>
        <p:txBody>
          <a:bodyPr wrap="square" lIns="0" tIns="0" rIns="0" bIns="0" rtlCol="0" anchor="t"/>
          <a:lstStyle/>
          <a:p>
            <a:pPr marL="0" indent="0" algn="l">
              <a:buNone/>
            </a:pPr>
            <a:r>
              <a:rPr lang="en-US" sz="3800" b="1" dirty="0">
                <a:solidFill>
                  <a:schemeClr val="tx1"/>
                </a:solidFill>
              </a:rPr>
              <a:t>Good or Bad?</a:t>
            </a:r>
            <a:endParaRPr lang="en-US" sz="3800" dirty="0"/>
          </a:p>
        </p:txBody>
      </p:sp>
      <p:sp>
        <p:nvSpPr>
          <p:cNvPr id="3" name="Card 1"/>
          <p:cNvSpPr/>
          <p:nvPr/>
        </p:nvSpPr>
        <p:spPr>
          <a:xfrm>
            <a:off x="640080" y="1554480"/>
            <a:ext cx="5303520" cy="4480560"/>
          </a:xfrm>
          <a:prstGeom prst="roundRect">
            <a:avLst>
              <a:gd name="adj" fmla="val 3061"/>
            </a:avLst>
          </a:prstGeom>
          <a:solidFill>
            <a:schemeClr val="bg2"/>
          </a:solidFill>
          <a:ln/>
        </p:spPr>
        <p:txBody>
          <a:bodyPr/>
          <a:lstStyle/>
          <a:p>
            <a:endParaRPr lang="fr-FR"/>
          </a:p>
        </p:txBody>
      </p:sp>
      <p:sp>
        <p:nvSpPr>
          <p:cNvPr id="4" name="Card dot 1"/>
          <p:cNvSpPr/>
          <p:nvPr/>
        </p:nvSpPr>
        <p:spPr>
          <a:xfrm>
            <a:off x="1005840" y="1965960"/>
            <a:ext cx="292608" cy="292608"/>
          </a:xfrm>
          <a:prstGeom prst="ellipse">
            <a:avLst/>
          </a:prstGeom>
          <a:solidFill>
            <a:srgbClr val="00B050"/>
          </a:solidFill>
          <a:ln/>
        </p:spPr>
        <p:txBody>
          <a:bodyPr/>
          <a:lstStyle/>
          <a:p>
            <a:endParaRPr lang="fr-FR"/>
          </a:p>
        </p:txBody>
      </p:sp>
      <p:sp>
        <p:nvSpPr>
          <p:cNvPr id="5" name="Text 3"/>
          <p:cNvSpPr txBox="1"/>
          <p:nvPr/>
        </p:nvSpPr>
        <p:spPr>
          <a:xfrm>
            <a:off x="1508760" y="1828800"/>
            <a:ext cx="4114800" cy="548640"/>
          </a:xfrm>
          <a:prstGeom prst="rect">
            <a:avLst/>
          </a:prstGeom>
          <a:noFill/>
          <a:ln/>
        </p:spPr>
        <p:txBody>
          <a:bodyPr wrap="square" lIns="0" tIns="0" rIns="0" bIns="0" rtlCol="0" anchor="ctr"/>
          <a:lstStyle/>
          <a:p>
            <a:pPr marL="0" indent="0">
              <a:buNone/>
            </a:pPr>
            <a:r>
              <a:rPr lang="en-US" sz="3000" b="1" dirty="0">
                <a:solidFill>
                  <a:srgbClr val="00B050"/>
                </a:solidFill>
                <a:latin typeface="Arial" pitchFamily="34" charset="0"/>
                <a:ea typeface="Arial" pitchFamily="34" charset="-122"/>
                <a:cs typeface="Arial" pitchFamily="34" charset="-120"/>
              </a:rPr>
              <a:t>Advantages</a:t>
            </a:r>
            <a:endParaRPr lang="en-US" sz="3000" dirty="0">
              <a:solidFill>
                <a:srgbClr val="00B050"/>
              </a:solidFill>
            </a:endParaRPr>
          </a:p>
        </p:txBody>
      </p:sp>
      <p:sp>
        <p:nvSpPr>
          <p:cNvPr id="6" name="Text 4"/>
          <p:cNvSpPr txBox="1"/>
          <p:nvPr/>
        </p:nvSpPr>
        <p:spPr>
          <a:xfrm>
            <a:off x="1051560" y="2788920"/>
            <a:ext cx="4572000" cy="777240"/>
          </a:xfrm>
          <a:prstGeom prst="rect">
            <a:avLst/>
          </a:prstGeom>
          <a:noFill/>
          <a:ln/>
        </p:spPr>
        <p:txBody>
          <a:bodyPr wrap="square" lIns="0" tIns="0" rIns="0" bIns="0" rtlCol="0" anchor="ctr"/>
          <a:lstStyle/>
          <a:p>
            <a:pPr marL="330200" indent="-330200">
              <a:buSzPct val="100000"/>
              <a:buChar char="•"/>
            </a:pPr>
            <a:r>
              <a:rPr lang="en-US" sz="2200" dirty="0">
                <a:solidFill>
                  <a:schemeClr val="tx1"/>
                </a:solidFill>
                <a:latin typeface="Calibri" pitchFamily="34" charset="0"/>
                <a:ea typeface="Calibri" pitchFamily="34" charset="-122"/>
                <a:cs typeface="Calibri" pitchFamily="34" charset="-120"/>
              </a:rPr>
              <a:t>Fewer accidents</a:t>
            </a:r>
            <a:endParaRPr lang="en-US" sz="2200" dirty="0"/>
          </a:p>
        </p:txBody>
      </p:sp>
      <p:sp>
        <p:nvSpPr>
          <p:cNvPr id="7" name="Text 5"/>
          <p:cNvSpPr txBox="1"/>
          <p:nvPr/>
        </p:nvSpPr>
        <p:spPr>
          <a:xfrm>
            <a:off x="1051560" y="3749040"/>
            <a:ext cx="4572000" cy="777240"/>
          </a:xfrm>
          <a:prstGeom prst="rect">
            <a:avLst/>
          </a:prstGeom>
          <a:noFill/>
          <a:ln/>
        </p:spPr>
        <p:txBody>
          <a:bodyPr wrap="square" lIns="0" tIns="0" rIns="0" bIns="0" rtlCol="0" anchor="ctr"/>
          <a:lstStyle/>
          <a:p>
            <a:pPr marL="330200" indent="-330200">
              <a:buSzPct val="100000"/>
              <a:buChar char="•"/>
            </a:pPr>
            <a:r>
              <a:rPr lang="en-US" sz="2200" dirty="0">
                <a:solidFill>
                  <a:schemeClr val="tx1"/>
                </a:solidFill>
                <a:latin typeface="Calibri" pitchFamily="34" charset="0"/>
                <a:ea typeface="Calibri" pitchFamily="34" charset="-122"/>
                <a:cs typeface="Calibri" pitchFamily="34" charset="-120"/>
              </a:rPr>
              <a:t>Works day and night</a:t>
            </a:r>
            <a:endParaRPr lang="en-US" sz="2200" dirty="0"/>
          </a:p>
        </p:txBody>
      </p:sp>
      <p:sp>
        <p:nvSpPr>
          <p:cNvPr id="8" name="Text 6"/>
          <p:cNvSpPr txBox="1"/>
          <p:nvPr/>
        </p:nvSpPr>
        <p:spPr>
          <a:xfrm>
            <a:off x="1051560" y="4709160"/>
            <a:ext cx="4572000" cy="777240"/>
          </a:xfrm>
          <a:prstGeom prst="rect">
            <a:avLst/>
          </a:prstGeom>
          <a:noFill/>
          <a:ln/>
        </p:spPr>
        <p:txBody>
          <a:bodyPr wrap="square" lIns="0" tIns="0" rIns="0" bIns="0" rtlCol="0" anchor="ctr"/>
          <a:lstStyle/>
          <a:p>
            <a:pPr marL="330200" indent="-330200">
              <a:buSzPct val="100000"/>
              <a:buChar char="•"/>
            </a:pPr>
            <a:r>
              <a:rPr lang="fr-FR" sz="2400" dirty="0"/>
              <a:t>Taxis </a:t>
            </a:r>
            <a:r>
              <a:rPr lang="fr-FR" sz="2400" dirty="0" err="1"/>
              <a:t>will</a:t>
            </a:r>
            <a:r>
              <a:rPr lang="fr-FR" sz="2400" dirty="0"/>
              <a:t> </a:t>
            </a:r>
            <a:r>
              <a:rPr lang="fr-FR" sz="2400" dirty="0" err="1"/>
              <a:t>be</a:t>
            </a:r>
            <a:r>
              <a:rPr lang="fr-FR" sz="2400" dirty="0"/>
              <a:t> </a:t>
            </a:r>
            <a:r>
              <a:rPr lang="fr-FR" sz="2400" dirty="0" err="1"/>
              <a:t>cheape</a:t>
            </a:r>
            <a:endParaRPr lang="en-US" sz="2200" dirty="0"/>
          </a:p>
        </p:txBody>
      </p:sp>
      <p:sp>
        <p:nvSpPr>
          <p:cNvPr id="9" name="Card 2"/>
          <p:cNvSpPr/>
          <p:nvPr/>
        </p:nvSpPr>
        <p:spPr>
          <a:xfrm>
            <a:off x="6217920" y="1554480"/>
            <a:ext cx="5303520" cy="4480560"/>
          </a:xfrm>
          <a:prstGeom prst="roundRect">
            <a:avLst>
              <a:gd name="adj" fmla="val 3061"/>
            </a:avLst>
          </a:prstGeom>
          <a:solidFill>
            <a:schemeClr val="bg2"/>
          </a:solidFill>
          <a:ln/>
        </p:spPr>
        <p:txBody>
          <a:bodyPr/>
          <a:lstStyle/>
          <a:p>
            <a:endParaRPr lang="fr-FR"/>
          </a:p>
        </p:txBody>
      </p:sp>
      <p:sp>
        <p:nvSpPr>
          <p:cNvPr id="10" name="Card dot 2"/>
          <p:cNvSpPr/>
          <p:nvPr/>
        </p:nvSpPr>
        <p:spPr>
          <a:xfrm>
            <a:off x="6583680" y="1965960"/>
            <a:ext cx="292608" cy="292608"/>
          </a:xfrm>
          <a:prstGeom prst="ellipse">
            <a:avLst/>
          </a:prstGeom>
          <a:solidFill>
            <a:srgbClr val="FF0000"/>
          </a:solidFill>
          <a:ln/>
        </p:spPr>
        <p:txBody>
          <a:bodyPr/>
          <a:lstStyle/>
          <a:p>
            <a:endParaRPr lang="fr-FR"/>
          </a:p>
        </p:txBody>
      </p:sp>
      <p:sp>
        <p:nvSpPr>
          <p:cNvPr id="11" name="Text 9"/>
          <p:cNvSpPr txBox="1"/>
          <p:nvPr/>
        </p:nvSpPr>
        <p:spPr>
          <a:xfrm>
            <a:off x="7086600" y="1828800"/>
            <a:ext cx="4114800" cy="548640"/>
          </a:xfrm>
          <a:prstGeom prst="rect">
            <a:avLst/>
          </a:prstGeom>
          <a:noFill/>
          <a:ln/>
        </p:spPr>
        <p:txBody>
          <a:bodyPr wrap="square" lIns="0" tIns="0" rIns="0" bIns="0" rtlCol="0" anchor="ctr"/>
          <a:lstStyle/>
          <a:p>
            <a:pPr marL="0" indent="0">
              <a:buNone/>
            </a:pPr>
            <a:r>
              <a:rPr lang="en-US" sz="3000" b="1" dirty="0">
                <a:solidFill>
                  <a:srgbClr val="FF0000"/>
                </a:solidFill>
                <a:latin typeface="Arial" pitchFamily="34" charset="0"/>
                <a:ea typeface="Arial" pitchFamily="34" charset="-122"/>
                <a:cs typeface="Arial" pitchFamily="34" charset="-120"/>
              </a:rPr>
              <a:t>Problems</a:t>
            </a:r>
            <a:endParaRPr lang="en-US" sz="3000" dirty="0">
              <a:solidFill>
                <a:srgbClr val="FF0000"/>
              </a:solidFill>
            </a:endParaRPr>
          </a:p>
        </p:txBody>
      </p:sp>
      <p:sp>
        <p:nvSpPr>
          <p:cNvPr id="12" name="Text 10"/>
          <p:cNvSpPr txBox="1"/>
          <p:nvPr/>
        </p:nvSpPr>
        <p:spPr>
          <a:xfrm>
            <a:off x="6629400" y="2788920"/>
            <a:ext cx="4572000" cy="777240"/>
          </a:xfrm>
          <a:prstGeom prst="rect">
            <a:avLst/>
          </a:prstGeom>
          <a:noFill/>
          <a:ln/>
        </p:spPr>
        <p:txBody>
          <a:bodyPr wrap="square" lIns="0" tIns="0" rIns="0" bIns="0" rtlCol="0" anchor="ctr"/>
          <a:lstStyle/>
          <a:p>
            <a:pPr marL="330200" indent="-330200">
              <a:buSzPct val="100000"/>
              <a:buChar char="•"/>
            </a:pPr>
            <a:r>
              <a:rPr lang="en-US" sz="2200" dirty="0">
                <a:solidFill>
                  <a:schemeClr val="tx1"/>
                </a:solidFill>
                <a:latin typeface="Calibri" pitchFamily="34" charset="0"/>
                <a:ea typeface="Calibri" pitchFamily="34" charset="-122"/>
                <a:cs typeface="Calibri" pitchFamily="34" charset="-120"/>
              </a:rPr>
              <a:t>Who is responsible in an accident?</a:t>
            </a:r>
            <a:endParaRPr lang="en-US" sz="2200" dirty="0"/>
          </a:p>
        </p:txBody>
      </p:sp>
      <p:sp>
        <p:nvSpPr>
          <p:cNvPr id="13" name="Text 11"/>
          <p:cNvSpPr txBox="1"/>
          <p:nvPr/>
        </p:nvSpPr>
        <p:spPr>
          <a:xfrm>
            <a:off x="6629400" y="3749040"/>
            <a:ext cx="4572000" cy="777240"/>
          </a:xfrm>
          <a:prstGeom prst="rect">
            <a:avLst/>
          </a:prstGeom>
          <a:noFill/>
          <a:ln/>
        </p:spPr>
        <p:txBody>
          <a:bodyPr wrap="square" lIns="0" tIns="0" rIns="0" bIns="0" rtlCol="0" anchor="ctr"/>
          <a:lstStyle/>
          <a:p>
            <a:pPr marL="330200" indent="-330200">
              <a:buSzPct val="100000"/>
              <a:buChar char="•"/>
            </a:pPr>
            <a:r>
              <a:rPr lang="en-US" sz="2200" dirty="0">
                <a:solidFill>
                  <a:schemeClr val="tx1"/>
                </a:solidFill>
                <a:latin typeface="Calibri" pitchFamily="34" charset="0"/>
                <a:ea typeface="Calibri" pitchFamily="34" charset="-122"/>
                <a:cs typeface="Calibri" pitchFamily="34" charset="-120"/>
              </a:rPr>
              <a:t>Snow and rain are difficult</a:t>
            </a:r>
            <a:endParaRPr lang="en-US" sz="2200" dirty="0"/>
          </a:p>
        </p:txBody>
      </p:sp>
      <p:sp>
        <p:nvSpPr>
          <p:cNvPr id="14" name="Text 12"/>
          <p:cNvSpPr txBox="1"/>
          <p:nvPr/>
        </p:nvSpPr>
        <p:spPr>
          <a:xfrm>
            <a:off x="6629400" y="4709160"/>
            <a:ext cx="4572000" cy="777240"/>
          </a:xfrm>
          <a:prstGeom prst="rect">
            <a:avLst/>
          </a:prstGeom>
          <a:noFill/>
          <a:ln/>
        </p:spPr>
        <p:txBody>
          <a:bodyPr wrap="square" lIns="0" tIns="0" rIns="0" bIns="0" rtlCol="0" anchor="ctr"/>
          <a:lstStyle/>
          <a:p>
            <a:pPr marL="330200" indent="-330200">
              <a:buSzPct val="100000"/>
              <a:buChar char="•"/>
            </a:pPr>
            <a:r>
              <a:rPr lang="en-US" sz="2200" dirty="0">
                <a:solidFill>
                  <a:schemeClr val="tx1"/>
                </a:solidFill>
                <a:latin typeface="Calibri" pitchFamily="34" charset="0"/>
                <a:ea typeface="Calibri" pitchFamily="34" charset="-122"/>
                <a:cs typeface="Calibri" pitchFamily="34" charset="-120"/>
              </a:rPr>
              <a:t>Taxi drivers can lose their job</a:t>
            </a:r>
            <a:endParaRPr lang="en-US" sz="2200" dirty="0"/>
          </a:p>
        </p:txBody>
      </p:sp>
      <p:sp>
        <p:nvSpPr>
          <p:cNvPr id="25" name="Slide Number Placeholder 0"/>
          <p:cNvSpPr>
            <a:spLocks noGrp="1"/>
          </p:cNvSpPr>
          <p:nvPr>
            <p:ph type="sldNum" sz="quarter" idx="4294967295"/>
          </p:nvPr>
        </p:nvSpPr>
        <p:spPr>
          <a:xfrm>
            <a:off x="6400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CA3AF"/>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Waymo photo" descr="preencoded.png"/>
          <p:cNvPicPr>
            <a:picLocks noChangeAspect="1"/>
          </p:cNvPicPr>
          <p:nvPr/>
        </p:nvPicPr>
        <p:blipFill>
          <a:blip r:embed="rId3"/>
          <a:stretch>
            <a:fillRect/>
          </a:stretch>
        </p:blipFill>
        <p:spPr>
          <a:xfrm>
            <a:off x="0" y="0"/>
            <a:ext cx="12191695" cy="6858000"/>
          </a:xfrm>
          <a:prstGeom prst="rect">
            <a:avLst/>
          </a:prstGeom>
        </p:spPr>
      </p:pic>
      <p:sp>
        <p:nvSpPr>
          <p:cNvPr id="3" name="Dark overlay"/>
          <p:cNvSpPr/>
          <p:nvPr/>
        </p:nvSpPr>
        <p:spPr>
          <a:xfrm>
            <a:off x="-1" y="0"/>
            <a:ext cx="12191695" cy="6858000"/>
          </a:xfrm>
          <a:prstGeom prst="rect">
            <a:avLst/>
          </a:prstGeom>
          <a:solidFill>
            <a:srgbClr val="000000">
              <a:alpha val="55000"/>
            </a:srgbClr>
          </a:solidFill>
          <a:ln/>
        </p:spPr>
        <p:txBody>
          <a:bodyPr/>
          <a:lstStyle/>
          <a:p>
            <a:endParaRPr lang="fr-FR" dirty="0"/>
          </a:p>
        </p:txBody>
      </p:sp>
      <p:sp>
        <p:nvSpPr>
          <p:cNvPr id="5" name="Text 0"/>
          <p:cNvSpPr>
            <a:spLocks noGrp="1"/>
          </p:cNvSpPr>
          <p:nvPr>
            <p:ph type="body" idx="101" hasCustomPrompt="1"/>
          </p:nvPr>
        </p:nvSpPr>
        <p:spPr>
          <a:xfrm>
            <a:off x="3068955" y="3429000"/>
            <a:ext cx="8229600" cy="548640"/>
          </a:xfrm>
          <a:prstGeom prst="rect">
            <a:avLst/>
          </a:prstGeom>
          <a:noFill/>
          <a:ln/>
        </p:spPr>
        <p:txBody>
          <a:bodyPr wrap="square" lIns="0" tIns="0" rIns="0" bIns="0" rtlCol="0"/>
          <a:lstStyle/>
          <a:p>
            <a:pPr marL="0" indent="0">
              <a:buNone/>
            </a:pPr>
            <a:r>
              <a:rPr lang="en-US" sz="4000" b="1" dirty="0">
                <a:solidFill>
                  <a:schemeClr val="bg1"/>
                </a:solidFill>
              </a:rPr>
              <a:t>Thank you! Any questions?</a:t>
            </a:r>
            <a:endParaRPr lang="en-US" sz="4000" dirty="0">
              <a:solidFill>
                <a:schemeClr val="bg1"/>
              </a:solidFill>
            </a:endParaRPr>
          </a:p>
        </p:txBody>
      </p:sp>
    </p:spTree>
  </p:cSld>
  <p:clrMapOvr>
    <a:masterClrMapping/>
  </p:clrMapOvr>
</p:sld>
</file>

<file path=ppt/theme/theme1.xml><?xml version="1.0" encoding="utf-8"?>
<a:theme xmlns:a="http://schemas.openxmlformats.org/drawingml/2006/main" name="Signal">
  <a:themeElements>
    <a:clrScheme name="Signal">
      <a:dk1>
        <a:srgbClr val="111111"/>
      </a:dk1>
      <a:lt1>
        <a:srgbClr val="FFFFFF"/>
      </a:lt1>
      <a:dk2>
        <a:srgbClr val="3A3A3A"/>
      </a:dk2>
      <a:lt2>
        <a:srgbClr val="F2F2F2"/>
      </a:lt2>
      <a:accent1>
        <a:srgbClr val="FF5A1F"/>
      </a:accent1>
      <a:accent2>
        <a:srgbClr val="1F8A70"/>
      </a:accent2>
      <a:accent3>
        <a:srgbClr val="C0392B"/>
      </a:accent3>
      <a:accent4>
        <a:srgbClr val="6B7280"/>
      </a:accent4>
      <a:accent5>
        <a:srgbClr val="D1D5DB"/>
      </a:accent5>
      <a:accent6>
        <a:srgbClr val="9CA3AF"/>
      </a:accent6>
      <a:hlink>
        <a:srgbClr val="FF5A1F"/>
      </a:hlink>
      <a:folHlink>
        <a:srgbClr val="6B7280"/>
      </a:folHlink>
    </a:clrScheme>
    <a:fontScheme name="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1652</Words>
  <Application>Microsoft Office PowerPoint</Application>
  <PresentationFormat>Grand écran</PresentationFormat>
  <Paragraphs>104</Paragraphs>
  <Slides>9</Slides>
  <Notes>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Arial</vt:lpstr>
      <vt:lpstr>Calibri</vt:lpstr>
      <vt:lpstr>Signal</vt:lpstr>
      <vt:lpstr>Self-Driving Cars: The Latest News</vt:lpstr>
      <vt:lpstr>The 6 Levels of Autonomy</vt:lpstr>
      <vt:lpstr>2026: What Happened?</vt:lpstr>
      <vt:lpstr>Waymo, the Leader</vt:lpstr>
      <vt:lpstr>Tesla and the Cybercab</vt:lpstr>
      <vt:lpstr>China and the Middle East</vt:lpstr>
      <vt:lpstr>And in Europe?</vt:lpstr>
      <vt:lpstr>Good or Bad?</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Self-Driving Cars: Latest News</dc:title>
  <dc:subject>PptxGenJS Presentation</dc:subject>
  <dc:creator>Rayann Ilkay</dc:creator>
  <cp:lastModifiedBy>Rayann ILKAY</cp:lastModifiedBy>
  <cp:revision>3</cp:revision>
  <dcterms:created xsi:type="dcterms:W3CDTF">2026-10-08T14:32:12Z</dcterms:created>
  <dcterms:modified xsi:type="dcterms:W3CDTF">2026-10-19T19:40:37Z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e7dfc5-2bf4-4a75-8664-2dc4b3bb1d09_Enabled">
    <vt:lpwstr>true</vt:lpwstr>
  </property>
  <property fmtid="{D5CDD505-2E9C-101B-9397-08002B2CF9AE}" pid="3" name="MSIP_Label_47e7dfc5-2bf4-4a75-8664-2dc4b3bb1d09_SetDate">
    <vt:lpwstr>2026-10-08T15:09:26Z</vt:lpwstr>
  </property>
  <property fmtid="{D5CDD505-2E9C-101B-9397-08002B2CF9AE}" pid="4" name="MSIP_Label_47e7dfc5-2bf4-4a75-8664-2dc4b3bb1d09_Method">
    <vt:lpwstr>Standard</vt:lpwstr>
  </property>
  <property fmtid="{D5CDD505-2E9C-101B-9397-08002B2CF9AE}" pid="5" name="MSIP_Label_47e7dfc5-2bf4-4a75-8664-2dc4b3bb1d09_Name">
    <vt:lpwstr>defa4170-0d19-0005-0004-bc88714345d2</vt:lpwstr>
  </property>
  <property fmtid="{D5CDD505-2E9C-101B-9397-08002B2CF9AE}" pid="6" name="MSIP_Label_47e7dfc5-2bf4-4a75-8664-2dc4b3bb1d09_SiteId">
    <vt:lpwstr>413600cf-bd4e-4c7c-8a61-69e73cddf731</vt:lpwstr>
  </property>
  <property fmtid="{D5CDD505-2E9C-101B-9397-08002B2CF9AE}" pid="7" name="MSIP_Label_47e7dfc5-2bf4-4a75-8664-2dc4b3bb1d09_ActionId">
    <vt:lpwstr>d7c3cee4-8fac-41a3-bef5-334591bcde21</vt:lpwstr>
  </property>
  <property fmtid="{D5CDD505-2E9C-101B-9397-08002B2CF9AE}" pid="8" name="MSIP_Label_47e7dfc5-2bf4-4a75-8664-2dc4b3bb1d09_ContentBits">
    <vt:lpwstr>0</vt:lpwstr>
  </property>
  <property fmtid="{D5CDD505-2E9C-101B-9397-08002B2CF9AE}" pid="9" name="MSIP_Label_47e7dfc5-2bf4-4a75-8664-2dc4b3bb1d09_Tag">
    <vt:lpwstr>10, 3, 0, 1</vt:lpwstr>
  </property>
</Properties>
</file>